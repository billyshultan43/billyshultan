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90" r:id="rId2"/>
    <p:sldId id="256" r:id="rId3"/>
    <p:sldId id="273" r:id="rId4"/>
    <p:sldId id="280" r:id="rId5"/>
    <p:sldId id="274" r:id="rId6"/>
    <p:sldId id="275" r:id="rId7"/>
    <p:sldId id="276" r:id="rId8"/>
    <p:sldId id="281" r:id="rId9"/>
    <p:sldId id="279" r:id="rId10"/>
    <p:sldId id="282" r:id="rId11"/>
    <p:sldId id="284" r:id="rId12"/>
    <p:sldId id="285" r:id="rId13"/>
    <p:sldId id="301" r:id="rId14"/>
    <p:sldId id="286" r:id="rId15"/>
    <p:sldId id="287" r:id="rId16"/>
    <p:sldId id="288" r:id="rId17"/>
    <p:sldId id="289" r:id="rId18"/>
    <p:sldId id="291" r:id="rId19"/>
    <p:sldId id="292" r:id="rId20"/>
    <p:sldId id="293" r:id="rId21"/>
    <p:sldId id="29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enu" id="{7C1E8890-FA89-4067-8127-B126D3414730}">
          <p14:sldIdLst>
            <p14:sldId id="290"/>
            <p14:sldId id="256"/>
          </p14:sldIdLst>
        </p14:section>
        <p14:section name="BAB I" id="{1844FD13-8DFC-47AB-8652-9078CDDAC569}">
          <p14:sldIdLst>
            <p14:sldId id="273"/>
            <p14:sldId id="280"/>
            <p14:sldId id="274"/>
            <p14:sldId id="275"/>
            <p14:sldId id="276"/>
          </p14:sldIdLst>
        </p14:section>
        <p14:section name="BAB II" id="{849D6138-0935-4144-908D-EF2606140EC7}">
          <p14:sldIdLst>
            <p14:sldId id="281"/>
            <p14:sldId id="279"/>
            <p14:sldId id="282"/>
          </p14:sldIdLst>
        </p14:section>
        <p14:section name="BAB III" id="{EBD0E867-329D-4F52-BFF4-9BD7F77BC775}">
          <p14:sldIdLst>
            <p14:sldId id="284"/>
            <p14:sldId id="285"/>
            <p14:sldId id="301"/>
          </p14:sldIdLst>
        </p14:section>
        <p14:section name="BAB IV" id="{1B5CC65D-DEE2-413C-8C3E-C7C5AE045988}">
          <p14:sldIdLst>
            <p14:sldId id="286"/>
            <p14:sldId id="287"/>
            <p14:sldId id="288"/>
            <p14:sldId id="289"/>
          </p14:sldIdLst>
        </p14:section>
        <p14:section name="BAB V" id="{1D0F960F-E6FC-4F69-83F5-B76FFD5839DB}">
          <p14:sldIdLst>
            <p14:sldId id="291"/>
            <p14:sldId id="292"/>
            <p14:sldId id="293"/>
          </p14:sldIdLst>
        </p14:section>
        <p14:section name="Terimakasih" id="{F98DBA9D-3642-4931-AA09-BCE1BB87C450}">
          <p14:sldIdLst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5464"/>
    <a:srgbClr val="E8AA42"/>
    <a:srgbClr val="00425A"/>
    <a:srgbClr val="E57C23"/>
    <a:srgbClr val="B32B2B"/>
    <a:srgbClr val="FDE7E0"/>
    <a:srgbClr val="C62F30"/>
    <a:srgbClr val="EB5C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94" autoAdjust="0"/>
    <p:restoredTop sz="94660"/>
  </p:normalViewPr>
  <p:slideViewPr>
    <p:cSldViewPr snapToGrid="0">
      <p:cViewPr>
        <p:scale>
          <a:sx n="75" d="100"/>
          <a:sy n="75" d="100"/>
        </p:scale>
        <p:origin x="300" y="-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A55E5143-DE56-F7A3-836A-6AC9827289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D"/>
              <a:t>BAB I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734FC60-B304-658B-9114-D3C4030068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C4390-5395-4C26-ADC8-DA2722844EE7}" type="datetimeFigureOut">
              <a:rPr lang="en-ID" smtClean="0"/>
              <a:t>29/07/2024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A42472FA-FF5E-50AE-E738-1B9A197686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5A72808-3BC5-7A12-EA50-A47B89AFF7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C5D436-7B9E-4B71-911E-42FCB3AC139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3651960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D"/>
              <a:t>BAB 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B170D0-3263-4DC4-9A60-CA5BAF3ADBB3}" type="datetimeFigureOut">
              <a:rPr lang="en-ID" smtClean="0"/>
              <a:t>29/07/2024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041C6-9854-43EF-94AF-B68287E8063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638830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D4E874-9CA4-8649-96B8-F61224A1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77179E3-35B6-AAE0-1A04-F10F48D2D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5FA3C82-ED7A-FD65-B55F-FDC81642B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21F18-5A35-4195-A52B-AEB69A51CB16}" type="datetime1">
              <a:rPr lang="en-ID" smtClean="0"/>
              <a:t>29/07/2024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1396062-0B43-49F3-507C-CBD625A3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E62D367-E788-D23C-C30E-3D3D1D7EB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523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06EE5A9-BB42-3297-9100-968378CDB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031A55-A5AD-FA80-D4CF-3C2C1211C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AE9DFE2-EA36-E84F-C167-8CD54AAB7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DEAF-9884-4278-945D-B9C8ADFFB6FA}" type="datetime1">
              <a:rPr lang="en-ID" smtClean="0"/>
              <a:t>29/07/2024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FBC6839-040C-CE2B-5290-573FDC3C9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6BC25A7-8A70-EFA4-FF50-9F9FA9B91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17083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1737E0-E1DA-4222-E05B-165D96494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BA4D0A6-D377-B64E-3EEB-75B089BC8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60EF7E0-2213-C61B-D6CC-E07FDE07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BE540-E83A-4DA7-8EE2-3B63BDFDBCDD}" type="datetime1">
              <a:rPr lang="en-ID" smtClean="0"/>
              <a:t>29/07/2024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0BF1A51-0863-A292-8698-EB7264DF0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375DC8B-989E-031E-F8F4-636FB09D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0075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0672AF4-09BC-1F62-C972-6AED238DF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3112A52-494D-CEB0-A3AA-CCCC48DB8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FF58DAA-5184-8D9E-B2C4-5FBA921ED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3C2EE47-83A8-8F9E-9239-C32A381A9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CD76E-55D8-462E-9D2D-A322433B31D1}" type="datetime1">
              <a:rPr lang="en-ID" smtClean="0"/>
              <a:t>29/07/2024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B0EDC3E-6577-0429-80D8-1701CD0A2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9D09E84-70E3-DE07-4286-8DF66C402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4549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1C4DD8C-4AD5-AFE2-BCC2-CD006F2F7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40D559C-13A4-D004-0D1F-B53768BF5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68BDF5F-F38F-C797-6881-B840EE457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DFAAE73-7887-5483-BAE1-874399C422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EF7BDE55-C013-1726-DBCA-20030D0BD0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9DAD3AFD-C5BD-F9AB-BBC9-74F544724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BFDE9-26DF-44C6-8E31-B36D61C609AB}" type="datetime1">
              <a:rPr lang="en-ID" smtClean="0"/>
              <a:t>29/07/2024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E9B7DB3C-B331-0220-5E66-6724F9BA8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F1C969A8-EC58-3555-365F-48A759AE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81329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406D5C-1682-560B-A139-57A1E482F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0A92546-C7BC-E2E7-518A-27BBBB40F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B815E-FC67-48B3-A349-126794635DF3}" type="datetime1">
              <a:rPr lang="en-ID" smtClean="0"/>
              <a:t>29/07/2024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A2CAFF62-E268-C20C-370B-EFD2C516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294693F-0579-114A-D159-294F826D6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9234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7CAEB72A-3162-C9CE-5F4C-237089185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03695-24A1-4E10-840B-F92F612350E9}" type="datetime1">
              <a:rPr lang="en-ID" smtClean="0"/>
              <a:t>29/07/2024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88CDF5E2-04B6-E229-9CFC-CE99C295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A3C2393-0C84-9581-D819-F3225765A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3656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C0D7C2-AFF1-31F2-7E36-4099391E1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98D5650-EF72-361B-0580-8694E1BBF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4991584C-F6D0-7B91-BEC8-22281FFAD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2E18665-D075-BDFA-2240-6B250230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BE098-BD57-412A-B263-D1862CC0DB9D}" type="datetime1">
              <a:rPr lang="en-ID" smtClean="0"/>
              <a:t>29/07/2024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6EE5119-F28A-93A7-5334-0B2186DC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C8ED611-06C2-5E21-BBC2-0880D237C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21579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75632FE-788C-80D3-52D0-D72E834C2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2E96B4CE-211F-A4FB-4784-E3FB72489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090E83B-2925-01B2-A3EC-336387014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5DF7CA1-91BA-0212-C4DF-C2E42441A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1D867-5BC9-44E9-8E10-70A914F9754C}" type="datetime1">
              <a:rPr lang="en-ID" smtClean="0"/>
              <a:t>29/07/2024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875F027-5FA9-013D-A92B-38DDD044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D8D6435-F33A-0B6D-53D7-D37E6A55C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88021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5FAFBD-8105-892D-B724-53DDCE17E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2CBBE9D5-50BB-314B-659C-F7E30D837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C2D8CA7-C217-CDF5-54C2-4825226E8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C0ADF-CE8D-4A5E-86BE-457EDC5FAC58}" type="datetime1">
              <a:rPr lang="en-ID" smtClean="0"/>
              <a:t>29/07/2024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A275DDA-2043-B774-AD6C-0AFEDEF41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19BE426-98AE-B1F2-976B-70D326F39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0384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7063D76-9FA8-CC9A-17A9-FFBE724878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1944BF7C-F0D2-3358-375E-DBA1B6038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8A5B433-A0F8-F7A5-4967-610C88191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5D1F-C1F5-40CF-9C76-C27868207E49}" type="datetime1">
              <a:rPr lang="en-ID" smtClean="0"/>
              <a:t>29/07/2024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B108544-D11D-6BFC-CD7A-3B649C4A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1086052-5B6E-94DF-A650-0B4DE21D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26397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C9EF85AD-D21E-1A6B-5BA8-0E3365094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9AE16BA-ADA7-475C-CC58-85136EB0A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78430D2-63F4-31F9-B4D5-77D65269F4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62557-C456-4F07-B157-62BA9F14AB94}" type="datetime1">
              <a:rPr lang="en-ID" smtClean="0"/>
              <a:t>29/07/2024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8049ACF-54B9-AEAB-698A-A3E55CDBD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B10F2B8-9D71-2314-9659-FB582A1EC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4146E-0932-4A9E-A16E-A31ABFE40E1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39152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" Target="slide5.xml"/><Relationship Id="rId7" Type="http://schemas.openxmlformats.org/officeDocument/2006/relationships/slide" Target="slide3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slide" Target="slide7.xml"/><Relationship Id="rId10" Type="http://schemas.openxmlformats.org/officeDocument/2006/relationships/image" Target="../media/image7.png"/><Relationship Id="rId4" Type="http://schemas.openxmlformats.org/officeDocument/2006/relationships/slide" Target="slide6.xml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6.png"/><Relationship Id="rId7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image" Target="../media/image8.png"/><Relationship Id="rId10" Type="http://schemas.openxmlformats.org/officeDocument/2006/relationships/image" Target="../media/image7.png"/><Relationship Id="rId4" Type="http://schemas.openxmlformats.org/officeDocument/2006/relationships/image" Target="../media/image15.svg"/><Relationship Id="rId9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6.png"/><Relationship Id="rId7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15.svg"/><Relationship Id="rId9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6.png"/><Relationship Id="rId7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image" Target="../media/image15.sv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10.png"/><Relationship Id="rId10" Type="http://schemas.openxmlformats.org/officeDocument/2006/relationships/image" Target="../media/image7.png"/><Relationship Id="rId4" Type="http://schemas.openxmlformats.org/officeDocument/2006/relationships/image" Target="../media/image15.svg"/><Relationship Id="rId9" Type="http://schemas.openxmlformats.org/officeDocument/2006/relationships/slide" Target="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slide" Target="slide9.xml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3" Type="http://schemas.openxmlformats.org/officeDocument/2006/relationships/image" Target="../media/image6.png"/><Relationship Id="rId12" Type="http://schemas.openxmlformats.org/officeDocument/2006/relationships/image" Target="../media/image31.svg"/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5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slide" Target="slide17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4" Type="http://schemas.openxmlformats.org/officeDocument/2006/relationships/image" Target="../media/image15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slide" Target="slide17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4" Type="http://schemas.openxmlformats.org/officeDocument/2006/relationships/image" Target="../media/image15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slide" Target="slide17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4" Type="http://schemas.openxmlformats.org/officeDocument/2006/relationships/image" Target="../media/image15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0.xml"/><Relationship Id="rId5" Type="http://schemas.openxmlformats.org/officeDocument/2006/relationships/slide" Target="slide19.xml"/><Relationship Id="rId4" Type="http://schemas.openxmlformats.org/officeDocument/2006/relationships/image" Target="../media/image15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" Target="slide19.xml"/><Relationship Id="rId7" Type="http://schemas.openxmlformats.org/officeDocument/2006/relationships/image" Target="../media/image39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slide" Target="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B I" hidden="1">
            <a:extLst>
              <a:ext uri="{FF2B5EF4-FFF2-40B4-BE49-F238E27FC236}">
                <a16:creationId xmlns="" xmlns:a16="http://schemas.microsoft.com/office/drawing/2014/main" id="{D66DE9AA-D5DE-AFF6-03E8-430D3B460E4A}"/>
              </a:ext>
            </a:extLst>
          </p:cNvPr>
          <p:cNvSpPr/>
          <p:nvPr/>
        </p:nvSpPr>
        <p:spPr>
          <a:xfrm>
            <a:off x="4796464" y="2175982"/>
            <a:ext cx="2506035" cy="2506035"/>
          </a:xfrm>
          <a:prstGeom prst="roundRect">
            <a:avLst/>
          </a:prstGeom>
          <a:solidFill>
            <a:srgbClr val="0042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Gotham Rounded Medium" panose="02000000000000000000" pitchFamily="50" charset="0"/>
              </a:rPr>
              <a:t>BAB I</a:t>
            </a:r>
            <a:endParaRPr lang="en-ID" sz="4000" dirty="0">
              <a:latin typeface="Gotham Rounded Medium" panose="02000000000000000000" pitchFamily="50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EBE8036E-9F92-D7FD-B7DD-D756E1C023E3}"/>
              </a:ext>
            </a:extLst>
          </p:cNvPr>
          <p:cNvSpPr/>
          <p:nvPr/>
        </p:nvSpPr>
        <p:spPr>
          <a:xfrm>
            <a:off x="4516970" y="445384"/>
            <a:ext cx="2774742" cy="27747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439" y="654491"/>
            <a:ext cx="2337803" cy="19430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52DC503D-1A93-2630-F6DE-F004186C12F0}"/>
              </a:ext>
            </a:extLst>
          </p:cNvPr>
          <p:cNvSpPr txBox="1"/>
          <p:nvPr/>
        </p:nvSpPr>
        <p:spPr>
          <a:xfrm>
            <a:off x="3694976" y="3677322"/>
            <a:ext cx="441872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 smtClean="0">
                <a:latin typeface="Montserrat" pitchFamily="2" charset="0"/>
              </a:rPr>
              <a:t>Disusun</a:t>
            </a:r>
            <a:r>
              <a:rPr lang="en-US" sz="1600" dirty="0" smtClean="0">
                <a:latin typeface="Montserrat" pitchFamily="2" charset="0"/>
              </a:rPr>
              <a:t> </a:t>
            </a:r>
            <a:r>
              <a:rPr lang="en-US" sz="1600" dirty="0" err="1" smtClean="0">
                <a:latin typeface="Montserrat" pitchFamily="2" charset="0"/>
              </a:rPr>
              <a:t>Oleh</a:t>
            </a:r>
            <a:r>
              <a:rPr lang="en-US" sz="1600" dirty="0" smtClean="0">
                <a:latin typeface="Montserrat" pitchFamily="2" charset="0"/>
              </a:rPr>
              <a:t>:</a:t>
            </a:r>
            <a:endParaRPr lang="en-US" sz="1600" dirty="0">
              <a:latin typeface="Montserrat" pitchFamily="2" charset="0"/>
            </a:endParaRPr>
          </a:p>
          <a:p>
            <a:pPr algn="ctr"/>
            <a:r>
              <a:rPr lang="en-US" sz="1600" b="1" i="1" dirty="0" smtClean="0">
                <a:latin typeface="Montserrat" pitchFamily="2" charset="0"/>
              </a:rPr>
              <a:t>Billy </a:t>
            </a:r>
            <a:r>
              <a:rPr lang="en-US" sz="1600" b="1" i="1" dirty="0" err="1" smtClean="0">
                <a:latin typeface="Montserrat" pitchFamily="2" charset="0"/>
              </a:rPr>
              <a:t>Shultan</a:t>
            </a:r>
            <a:r>
              <a:rPr lang="en-US" sz="1600" b="1" i="1" dirty="0" smtClean="0">
                <a:latin typeface="Montserrat" pitchFamily="2" charset="0"/>
              </a:rPr>
              <a:t> Al </a:t>
            </a:r>
            <a:r>
              <a:rPr lang="en-US" sz="1600" b="1" i="1" dirty="0" err="1" smtClean="0">
                <a:latin typeface="Montserrat" pitchFamily="2" charset="0"/>
              </a:rPr>
              <a:t>Hadiy</a:t>
            </a:r>
            <a:endParaRPr lang="en-US" sz="1600" b="1" i="1" dirty="0" smtClean="0">
              <a:latin typeface="Montserrat" pitchFamily="2" charset="0"/>
            </a:endParaRPr>
          </a:p>
          <a:p>
            <a:pPr algn="ctr"/>
            <a:r>
              <a:rPr lang="en-US" sz="1600" b="1" i="1" dirty="0" smtClean="0">
                <a:latin typeface="Montserrat" pitchFamily="2" charset="0"/>
              </a:rPr>
              <a:t>41420010009</a:t>
            </a:r>
          </a:p>
          <a:p>
            <a:pPr algn="ctr"/>
            <a:endParaRPr lang="en-US" sz="1600" b="1" i="1" dirty="0">
              <a:latin typeface="Montserrat" pitchFamily="2" charset="0"/>
            </a:endParaRPr>
          </a:p>
          <a:p>
            <a:pPr algn="ctr"/>
            <a:r>
              <a:rPr lang="en-US" sz="1600" dirty="0" err="1" smtClean="0">
                <a:latin typeface="Montserrat" pitchFamily="2" charset="0"/>
              </a:rPr>
              <a:t>Dosen</a:t>
            </a:r>
            <a:r>
              <a:rPr lang="en-US" sz="1600" dirty="0" smtClean="0">
                <a:latin typeface="Montserrat" pitchFamily="2" charset="0"/>
              </a:rPr>
              <a:t> </a:t>
            </a:r>
            <a:r>
              <a:rPr lang="en-US" sz="1600" dirty="0" err="1" smtClean="0">
                <a:latin typeface="Montserrat" pitchFamily="2" charset="0"/>
              </a:rPr>
              <a:t>Pembimbing</a:t>
            </a:r>
            <a:r>
              <a:rPr lang="en-US" sz="1600" dirty="0" smtClean="0">
                <a:latin typeface="Montserrat" pitchFamily="2" charset="0"/>
              </a:rPr>
              <a:t>:</a:t>
            </a:r>
            <a:endParaRPr lang="en-US" sz="1600" dirty="0">
              <a:latin typeface="Montserrat" pitchFamily="2" charset="0"/>
            </a:endParaRPr>
          </a:p>
          <a:p>
            <a:pPr algn="ctr"/>
            <a:r>
              <a:rPr lang="en-US" sz="1600" b="1" i="1" dirty="0">
                <a:latin typeface="Montserrat" pitchFamily="2" charset="0"/>
              </a:rPr>
              <a:t>Prof. Dr. </a:t>
            </a:r>
            <a:r>
              <a:rPr lang="en-US" sz="1600" b="1" i="1" dirty="0" err="1">
                <a:latin typeface="Montserrat" pitchFamily="2" charset="0"/>
              </a:rPr>
              <a:t>Ing</a:t>
            </a:r>
            <a:r>
              <a:rPr lang="en-US" sz="1600" b="1" i="1" dirty="0">
                <a:latin typeface="Montserrat" pitchFamily="2" charset="0"/>
              </a:rPr>
              <a:t>. </a:t>
            </a:r>
            <a:r>
              <a:rPr lang="en-US" sz="1600" b="1" i="1" dirty="0" err="1">
                <a:latin typeface="Montserrat" pitchFamily="2" charset="0"/>
              </a:rPr>
              <a:t>Mudrik</a:t>
            </a:r>
            <a:r>
              <a:rPr lang="en-US" sz="1600" b="1" i="1" dirty="0">
                <a:latin typeface="Montserrat" pitchFamily="2" charset="0"/>
              </a:rPr>
              <a:t> </a:t>
            </a:r>
            <a:r>
              <a:rPr lang="en-US" sz="1600" b="1" i="1" dirty="0" err="1">
                <a:latin typeface="Montserrat" pitchFamily="2" charset="0"/>
              </a:rPr>
              <a:t>Alaydrus</a:t>
            </a:r>
            <a:endParaRPr lang="en-US" sz="1600" b="1" i="1" dirty="0">
              <a:latin typeface="Montserrat" pitchFamily="2" charset="0"/>
            </a:endParaRPr>
          </a:p>
          <a:p>
            <a:pPr algn="ctr"/>
            <a:endParaRPr lang="en-US" sz="1600" b="1" i="1" dirty="0" smtClean="0">
              <a:latin typeface="Montserrat" pitchFamily="2" charset="0"/>
            </a:endParaRPr>
          </a:p>
          <a:p>
            <a:pPr algn="ctr"/>
            <a:r>
              <a:rPr lang="en-US" sz="1600" dirty="0" err="1">
                <a:latin typeface="Montserrat" pitchFamily="2" charset="0"/>
              </a:rPr>
              <a:t>Dosen</a:t>
            </a:r>
            <a:r>
              <a:rPr lang="en-US" sz="1600" dirty="0">
                <a:latin typeface="Montserrat" pitchFamily="2" charset="0"/>
              </a:rPr>
              <a:t> </a:t>
            </a:r>
            <a:r>
              <a:rPr lang="en-US" sz="1600" dirty="0" err="1" smtClean="0">
                <a:latin typeface="Montserrat" pitchFamily="2" charset="0"/>
              </a:rPr>
              <a:t>Penguji</a:t>
            </a:r>
            <a:r>
              <a:rPr lang="en-US" sz="1600" dirty="0" smtClean="0">
                <a:latin typeface="Montserrat" pitchFamily="2" charset="0"/>
              </a:rPr>
              <a:t>:</a:t>
            </a:r>
            <a:endParaRPr lang="en-US" sz="1600" dirty="0">
              <a:latin typeface="Montserrat" pitchFamily="2" charset="0"/>
            </a:endParaRPr>
          </a:p>
          <a:p>
            <a:pPr marL="723900"/>
            <a:r>
              <a:rPr lang="en-US" sz="1600" b="1" i="1" dirty="0" smtClean="0">
                <a:latin typeface="Montserrat" pitchFamily="2" charset="0"/>
              </a:rPr>
              <a:t>1. Ahmad Firdausi, ST, MT</a:t>
            </a:r>
          </a:p>
          <a:p>
            <a:pPr marL="723900"/>
            <a:r>
              <a:rPr lang="en-US" sz="1600" b="1" i="1" dirty="0" smtClean="0">
                <a:latin typeface="Montserrat" pitchFamily="2" charset="0"/>
              </a:rPr>
              <a:t>2. Dr. Dian </a:t>
            </a:r>
            <a:r>
              <a:rPr lang="en-US" sz="1600" b="1" i="1" dirty="0" err="1" smtClean="0">
                <a:latin typeface="Montserrat" pitchFamily="2" charset="0"/>
              </a:rPr>
              <a:t>Widi</a:t>
            </a:r>
            <a:r>
              <a:rPr lang="en-US" sz="1600" b="1" i="1" dirty="0" smtClean="0">
                <a:latin typeface="Montserrat" pitchFamily="2" charset="0"/>
              </a:rPr>
              <a:t> </a:t>
            </a:r>
            <a:r>
              <a:rPr lang="en-US" sz="1600" b="1" i="1" dirty="0" err="1" smtClean="0">
                <a:latin typeface="Montserrat" pitchFamily="2" charset="0"/>
              </a:rPr>
              <a:t>Astuti</a:t>
            </a:r>
            <a:r>
              <a:rPr lang="en-US" sz="1600" b="1" i="1" dirty="0" smtClean="0">
                <a:latin typeface="Montserrat" pitchFamily="2" charset="0"/>
              </a:rPr>
              <a:t> ST, MT</a:t>
            </a:r>
            <a:endParaRPr lang="en-US" sz="1600" b="1" i="1" dirty="0">
              <a:latin typeface="Montserrat" pitchFamily="2" charset="0"/>
            </a:endParaRPr>
          </a:p>
          <a:p>
            <a:pPr algn="ctr"/>
            <a:endParaRPr lang="en-ID" sz="1600" b="1" i="1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26987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val 51">
            <a:extLst>
              <a:ext uri="{FF2B5EF4-FFF2-40B4-BE49-F238E27FC236}">
                <a16:creationId xmlns="" xmlns:a16="http://schemas.microsoft.com/office/drawing/2014/main" id="{BA01286D-B612-577C-C32A-441DEDF8CF2D}"/>
              </a:ext>
            </a:extLst>
          </p:cNvPr>
          <p:cNvSpPr/>
          <p:nvPr/>
        </p:nvSpPr>
        <p:spPr>
          <a:xfrm>
            <a:off x="2813923" y="292100"/>
            <a:ext cx="6210300" cy="6210300"/>
          </a:xfrm>
          <a:prstGeom prst="ellipse">
            <a:avLst/>
          </a:prstGeom>
          <a:noFill/>
          <a:ln w="28575">
            <a:solidFill>
              <a:srgbClr val="E8AA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: Rounded Corners 9">
            <a:extLst>
              <a:ext uri="{FF2B5EF4-FFF2-40B4-BE49-F238E27FC236}">
                <a16:creationId xmlns="" xmlns:a16="http://schemas.microsoft.com/office/drawing/2014/main" id="{B4F12A5D-FCBC-E05D-4C1C-B4DD236E8338}"/>
              </a:ext>
            </a:extLst>
          </p:cNvPr>
          <p:cNvSpPr/>
          <p:nvPr/>
        </p:nvSpPr>
        <p:spPr>
          <a:xfrm>
            <a:off x="1121546" y="739302"/>
            <a:ext cx="4974454" cy="53113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11" name="Rectangle: Rounded Corners 10">
            <a:extLst>
              <a:ext uri="{FF2B5EF4-FFF2-40B4-BE49-F238E27FC236}">
                <a16:creationId xmlns="" xmlns:a16="http://schemas.microsoft.com/office/drawing/2014/main" id="{53A46622-1FCA-3F53-7EF2-4A14332F8A56}"/>
              </a:ext>
            </a:extLst>
          </p:cNvPr>
          <p:cNvSpPr/>
          <p:nvPr/>
        </p:nvSpPr>
        <p:spPr>
          <a:xfrm>
            <a:off x="6096000" y="739302"/>
            <a:ext cx="4974454" cy="53113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6939EE4E-DDAC-031F-369B-F087A447EB80}"/>
              </a:ext>
            </a:extLst>
          </p:cNvPr>
          <p:cNvSpPr txBox="1"/>
          <p:nvPr/>
        </p:nvSpPr>
        <p:spPr>
          <a:xfrm>
            <a:off x="1662405" y="989137"/>
            <a:ext cx="3424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Montserrat" pitchFamily="2" charset="0"/>
              </a:rPr>
              <a:t>JUDUL PENELITIAN</a:t>
            </a:r>
            <a:endParaRPr lang="en-ID" sz="2400" b="1" dirty="0">
              <a:latin typeface="Montserrat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1080CD5E-44F4-6FBA-6D03-77D3579603CC}"/>
              </a:ext>
            </a:extLst>
          </p:cNvPr>
          <p:cNvSpPr txBox="1"/>
          <p:nvPr/>
        </p:nvSpPr>
        <p:spPr>
          <a:xfrm>
            <a:off x="6408824" y="1035303"/>
            <a:ext cx="4418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Montserrat" pitchFamily="2" charset="0"/>
              </a:rPr>
              <a:t>UNIVERSITAS </a:t>
            </a:r>
            <a:r>
              <a:rPr lang="en-US" b="1" dirty="0" smtClean="0">
                <a:latin typeface="Montserrat" pitchFamily="2" charset="0"/>
              </a:rPr>
              <a:t>MERCU BUANA</a:t>
            </a:r>
            <a:endParaRPr lang="en-ID" b="1" dirty="0">
              <a:latin typeface="Montserrat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52DC503D-1A93-2630-F6DE-F004186C12F0}"/>
              </a:ext>
            </a:extLst>
          </p:cNvPr>
          <p:cNvSpPr txBox="1"/>
          <p:nvPr/>
        </p:nvSpPr>
        <p:spPr>
          <a:xfrm>
            <a:off x="1437510" y="5190401"/>
            <a:ext cx="44187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Montserrat" pitchFamily="2" charset="0"/>
              </a:rPr>
              <a:t>Penyaji</a:t>
            </a:r>
            <a:r>
              <a:rPr lang="en-US" sz="1600" dirty="0">
                <a:latin typeface="Montserrat" pitchFamily="2" charset="0"/>
              </a:rPr>
              <a:t> :</a:t>
            </a:r>
          </a:p>
          <a:p>
            <a:r>
              <a:rPr lang="en-US" sz="1600" b="1" i="1" dirty="0" smtClean="0">
                <a:latin typeface="Montserrat" pitchFamily="2" charset="0"/>
              </a:rPr>
              <a:t>Billy </a:t>
            </a:r>
            <a:r>
              <a:rPr lang="en-US" sz="1600" b="1" i="1" dirty="0" err="1" smtClean="0">
                <a:latin typeface="Montserrat" pitchFamily="2" charset="0"/>
              </a:rPr>
              <a:t>Shultan</a:t>
            </a:r>
            <a:r>
              <a:rPr lang="en-US" sz="1600" b="1" i="1" dirty="0" smtClean="0">
                <a:latin typeface="Montserrat" pitchFamily="2" charset="0"/>
              </a:rPr>
              <a:t> Al </a:t>
            </a:r>
            <a:r>
              <a:rPr lang="en-US" sz="1600" b="1" i="1" dirty="0" err="1" smtClean="0">
                <a:latin typeface="Montserrat" pitchFamily="2" charset="0"/>
              </a:rPr>
              <a:t>Hadiy</a:t>
            </a:r>
            <a:endParaRPr lang="en-US" sz="1600" b="1" i="1" dirty="0" smtClean="0">
              <a:latin typeface="Montserrat" pitchFamily="2" charset="0"/>
            </a:endParaRPr>
          </a:p>
          <a:p>
            <a:r>
              <a:rPr lang="en-US" sz="1600" b="1" i="1" dirty="0" smtClean="0">
                <a:latin typeface="Montserrat" pitchFamily="2" charset="0"/>
              </a:rPr>
              <a:t>41420010009</a:t>
            </a:r>
            <a:endParaRPr lang="en-ID" sz="1600" b="1" i="1" dirty="0">
              <a:latin typeface="Montserrat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5DB15187-441D-C120-1800-501046E2F7F6}"/>
              </a:ext>
            </a:extLst>
          </p:cNvPr>
          <p:cNvSpPr/>
          <p:nvPr/>
        </p:nvSpPr>
        <p:spPr>
          <a:xfrm>
            <a:off x="1115197" y="1700001"/>
            <a:ext cx="9948908" cy="3469534"/>
          </a:xfrm>
          <a:prstGeom prst="rect">
            <a:avLst/>
          </a:prstGeom>
          <a:solidFill>
            <a:srgbClr val="0042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814FB12E-C6DA-DB83-EA59-BB1533D0F493}"/>
              </a:ext>
            </a:extLst>
          </p:cNvPr>
          <p:cNvGrpSpPr/>
          <p:nvPr/>
        </p:nvGrpSpPr>
        <p:grpSpPr>
          <a:xfrm>
            <a:off x="6052892" y="1688465"/>
            <a:ext cx="5023912" cy="3481070"/>
            <a:chOff x="6052892" y="1688465"/>
            <a:chExt cx="5023912" cy="3481070"/>
          </a:xfrm>
          <a:blipFill dpi="0" rotWithShape="1">
            <a:blip r:embed="rId2"/>
            <a:srcRect/>
            <a:stretch>
              <a:fillRect/>
            </a:stretch>
          </a:blipFill>
        </p:grpSpPr>
        <p:pic>
          <p:nvPicPr>
            <p:cNvPr id="35" name="Picture 34">
              <a:extLst>
                <a:ext uri="{FF2B5EF4-FFF2-40B4-BE49-F238E27FC236}">
                  <a16:creationId xmlns="" xmlns:a16="http://schemas.microsoft.com/office/drawing/2014/main" id="{380A20D3-C550-5308-7AAE-BC4E6B3B6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333" t="3657" r="12333" b="3657"/>
            <a:stretch>
              <a:fillRect/>
            </a:stretch>
          </p:blipFill>
          <p:spPr>
            <a:xfrm>
              <a:off x="6052892" y="1700001"/>
              <a:ext cx="5022894" cy="3469534"/>
            </a:xfrm>
            <a:custGeom>
              <a:avLst/>
              <a:gdLst>
                <a:gd name="connsiteX0" fmla="*/ 0 w 5022894"/>
                <a:gd name="connsiteY0" fmla="*/ 0 h 3469534"/>
                <a:gd name="connsiteX1" fmla="*/ 5022894 w 5022894"/>
                <a:gd name="connsiteY1" fmla="*/ 0 h 3469534"/>
                <a:gd name="connsiteX2" fmla="*/ 5022894 w 5022894"/>
                <a:gd name="connsiteY2" fmla="*/ 3469534 h 3469534"/>
                <a:gd name="connsiteX3" fmla="*/ 0 w 5022894"/>
                <a:gd name="connsiteY3" fmla="*/ 3469534 h 346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22894" h="3469534">
                  <a:moveTo>
                    <a:pt x="0" y="0"/>
                  </a:moveTo>
                  <a:lnTo>
                    <a:pt x="5022894" y="0"/>
                  </a:lnTo>
                  <a:lnTo>
                    <a:pt x="5022894" y="3469534"/>
                  </a:lnTo>
                  <a:lnTo>
                    <a:pt x="0" y="3469534"/>
                  </a:lnTo>
                  <a:close/>
                </a:path>
              </a:pathLst>
            </a:custGeom>
            <a:grpFill/>
          </p:spPr>
        </p:pic>
        <p:sp>
          <p:nvSpPr>
            <p:cNvPr id="28" name="Rectangle 27">
              <a:extLst>
                <a:ext uri="{FF2B5EF4-FFF2-40B4-BE49-F238E27FC236}">
                  <a16:creationId xmlns="" xmlns:a16="http://schemas.microsoft.com/office/drawing/2014/main" id="{174C4CD5-E1C7-CCB1-9082-8EE567D4B99B}"/>
                </a:ext>
              </a:extLst>
            </p:cNvPr>
            <p:cNvSpPr/>
            <p:nvPr/>
          </p:nvSpPr>
          <p:spPr>
            <a:xfrm>
              <a:off x="6053909" y="1688465"/>
              <a:ext cx="5022895" cy="346953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48C30B78-05E5-56BA-4DA0-7D731898AF8C}"/>
              </a:ext>
            </a:extLst>
          </p:cNvPr>
          <p:cNvSpPr txBox="1"/>
          <p:nvPr/>
        </p:nvSpPr>
        <p:spPr>
          <a:xfrm>
            <a:off x="1358731" y="2039707"/>
            <a:ext cx="36163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err="1" smtClean="0">
                <a:solidFill>
                  <a:schemeClr val="bg1"/>
                </a:solidFill>
                <a:latin typeface="Montserrat Medium" pitchFamily="2" charset="0"/>
              </a:rPr>
              <a:t>Perancangan</a:t>
            </a:r>
            <a:r>
              <a:rPr lang="en-US" sz="2400" b="1" i="1" dirty="0" smtClean="0">
                <a:solidFill>
                  <a:schemeClr val="bg1"/>
                </a:solidFill>
                <a:latin typeface="Montserrat Medium" pitchFamily="2" charset="0"/>
              </a:rPr>
              <a:t> </a:t>
            </a:r>
            <a:r>
              <a:rPr lang="en-US" sz="2400" b="1" i="1" dirty="0" err="1" smtClean="0">
                <a:solidFill>
                  <a:schemeClr val="bg1"/>
                </a:solidFill>
                <a:latin typeface="Montserrat Medium" pitchFamily="2" charset="0"/>
              </a:rPr>
              <a:t>Sistem</a:t>
            </a:r>
            <a:r>
              <a:rPr lang="en-US" sz="2400" b="1" i="1" dirty="0" smtClean="0">
                <a:solidFill>
                  <a:schemeClr val="bg1"/>
                </a:solidFill>
                <a:latin typeface="Montserrat Medium" pitchFamily="2" charset="0"/>
              </a:rPr>
              <a:t> Monitoring Emisi Gas </a:t>
            </a:r>
            <a:r>
              <a:rPr lang="en-US" sz="2400" b="1" i="1" dirty="0" err="1" smtClean="0">
                <a:solidFill>
                  <a:schemeClr val="bg1"/>
                </a:solidFill>
                <a:latin typeface="Montserrat Medium" pitchFamily="2" charset="0"/>
              </a:rPr>
              <a:t>Buang</a:t>
            </a:r>
            <a:r>
              <a:rPr lang="en-US" sz="2400" b="1" i="1" dirty="0" smtClean="0">
                <a:solidFill>
                  <a:schemeClr val="bg1"/>
                </a:solidFill>
                <a:latin typeface="Montserrat Medium" pitchFamily="2" charset="0"/>
              </a:rPr>
              <a:t> </a:t>
            </a:r>
            <a:r>
              <a:rPr lang="en-US" sz="2400" b="1" i="1" dirty="0" err="1" smtClean="0">
                <a:solidFill>
                  <a:schemeClr val="bg1"/>
                </a:solidFill>
                <a:latin typeface="Montserrat Medium" pitchFamily="2" charset="0"/>
              </a:rPr>
              <a:t>Kendaraan</a:t>
            </a:r>
            <a:r>
              <a:rPr lang="en-US" sz="2400" b="1" i="1" dirty="0" smtClean="0">
                <a:solidFill>
                  <a:schemeClr val="bg1"/>
                </a:solidFill>
                <a:latin typeface="Montserrat Medium" pitchFamily="2" charset="0"/>
              </a:rPr>
              <a:t> Menggunakan </a:t>
            </a:r>
            <a:r>
              <a:rPr lang="en-US" sz="2400" b="1" i="1" dirty="0" err="1" smtClean="0">
                <a:solidFill>
                  <a:schemeClr val="bg1"/>
                </a:solidFill>
                <a:latin typeface="Montserrat Medium" pitchFamily="2" charset="0"/>
              </a:rPr>
              <a:t>Metode</a:t>
            </a:r>
            <a:r>
              <a:rPr lang="en-US" sz="2400" b="1" i="1" dirty="0" smtClean="0">
                <a:solidFill>
                  <a:schemeClr val="bg1"/>
                </a:solidFill>
                <a:latin typeface="Montserrat Medium" pitchFamily="2" charset="0"/>
              </a:rPr>
              <a:t> Fuzzy </a:t>
            </a:r>
            <a:r>
              <a:rPr lang="en-US" sz="2400" b="1" i="1" dirty="0" err="1" smtClean="0">
                <a:solidFill>
                  <a:schemeClr val="bg1"/>
                </a:solidFill>
                <a:latin typeface="Montserrat Medium" pitchFamily="2" charset="0"/>
              </a:rPr>
              <a:t>Mamdani</a:t>
            </a:r>
            <a:r>
              <a:rPr lang="en-US" sz="2400" b="1" i="1" dirty="0" smtClean="0">
                <a:solidFill>
                  <a:schemeClr val="bg1"/>
                </a:solidFill>
                <a:latin typeface="Montserrat Medium" pitchFamily="2" charset="0"/>
              </a:rPr>
              <a:t> </a:t>
            </a:r>
            <a:r>
              <a:rPr lang="en-US" sz="2400" b="1" i="1" dirty="0" err="1" smtClean="0">
                <a:solidFill>
                  <a:schemeClr val="bg1"/>
                </a:solidFill>
                <a:latin typeface="Montserrat Medium" pitchFamily="2" charset="0"/>
              </a:rPr>
              <a:t>Berbasis</a:t>
            </a:r>
            <a:r>
              <a:rPr lang="en-US" sz="2400" b="1" i="1" dirty="0" smtClean="0">
                <a:solidFill>
                  <a:schemeClr val="bg1"/>
                </a:solidFill>
                <a:latin typeface="Montserrat Medium" pitchFamily="2" charset="0"/>
              </a:rPr>
              <a:t> </a:t>
            </a:r>
            <a:r>
              <a:rPr lang="en-US" sz="2400" b="1" i="1" dirty="0" err="1" smtClean="0">
                <a:solidFill>
                  <a:schemeClr val="bg1"/>
                </a:solidFill>
                <a:latin typeface="Montserrat Medium" pitchFamily="2" charset="0"/>
              </a:rPr>
              <a:t>Aplikasi</a:t>
            </a:r>
            <a:r>
              <a:rPr lang="en-US" sz="2400" b="1" i="1" dirty="0" smtClean="0">
                <a:solidFill>
                  <a:schemeClr val="bg1"/>
                </a:solidFill>
                <a:latin typeface="Montserrat Medium" pitchFamily="2" charset="0"/>
              </a:rPr>
              <a:t> </a:t>
            </a:r>
            <a:r>
              <a:rPr lang="en-US" sz="2400" b="1" i="1" dirty="0" err="1" smtClean="0">
                <a:solidFill>
                  <a:schemeClr val="bg1"/>
                </a:solidFill>
                <a:latin typeface="Montserrat Medium" pitchFamily="2" charset="0"/>
              </a:rPr>
              <a:t>Blynk</a:t>
            </a:r>
            <a:r>
              <a:rPr lang="en-US" sz="2400" b="1" i="1" dirty="0" smtClean="0">
                <a:solidFill>
                  <a:schemeClr val="bg1"/>
                </a:solidFill>
                <a:latin typeface="Montserrat Medium" pitchFamily="2" charset="0"/>
              </a:rPr>
              <a:t> </a:t>
            </a:r>
            <a:endParaRPr lang="en-ID" sz="2400" b="1" i="1" dirty="0">
              <a:solidFill>
                <a:schemeClr val="bg1"/>
              </a:solidFill>
              <a:latin typeface="Montserrat Medium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8D0E0F15-B9C3-8D52-9435-08EA8CB4FF82}"/>
              </a:ext>
            </a:extLst>
          </p:cNvPr>
          <p:cNvSpPr txBox="1"/>
          <p:nvPr/>
        </p:nvSpPr>
        <p:spPr>
          <a:xfrm>
            <a:off x="6567029" y="5175653"/>
            <a:ext cx="44187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Montserrat" pitchFamily="2" charset="0"/>
              </a:rPr>
              <a:t>Dosen </a:t>
            </a:r>
            <a:r>
              <a:rPr lang="en-US" sz="1600" dirty="0" err="1">
                <a:latin typeface="Montserrat" pitchFamily="2" charset="0"/>
              </a:rPr>
              <a:t>Pembimbing</a:t>
            </a:r>
            <a:r>
              <a:rPr lang="en-US" sz="1600" dirty="0">
                <a:latin typeface="Montserrat" pitchFamily="2" charset="0"/>
              </a:rPr>
              <a:t> :</a:t>
            </a:r>
          </a:p>
          <a:p>
            <a:r>
              <a:rPr lang="en-US" sz="1600" b="1" i="1" dirty="0" smtClean="0">
                <a:latin typeface="Montserrat" pitchFamily="2" charset="0"/>
              </a:rPr>
              <a:t>Prof. Dr</a:t>
            </a:r>
            <a:r>
              <a:rPr lang="en-US" sz="1600" b="1" i="1" dirty="0">
                <a:latin typeface="Montserrat" pitchFamily="2" charset="0"/>
              </a:rPr>
              <a:t>. </a:t>
            </a:r>
            <a:r>
              <a:rPr lang="en-US" sz="1600" b="1" i="1" dirty="0" err="1" smtClean="0">
                <a:latin typeface="Montserrat" pitchFamily="2" charset="0"/>
              </a:rPr>
              <a:t>Ing</a:t>
            </a:r>
            <a:r>
              <a:rPr lang="en-US" sz="1600" b="1" i="1" dirty="0" smtClean="0">
                <a:latin typeface="Montserrat" pitchFamily="2" charset="0"/>
              </a:rPr>
              <a:t>. </a:t>
            </a:r>
            <a:r>
              <a:rPr lang="en-US" sz="1600" b="1" i="1" dirty="0" err="1" smtClean="0">
                <a:latin typeface="Montserrat" pitchFamily="2" charset="0"/>
              </a:rPr>
              <a:t>Mudrik</a:t>
            </a:r>
            <a:r>
              <a:rPr lang="en-US" sz="1600" b="1" i="1" dirty="0" smtClean="0">
                <a:latin typeface="Montserrat" pitchFamily="2" charset="0"/>
              </a:rPr>
              <a:t> </a:t>
            </a:r>
            <a:r>
              <a:rPr lang="en-US" sz="1600" b="1" i="1" dirty="0" err="1" smtClean="0">
                <a:latin typeface="Montserrat" pitchFamily="2" charset="0"/>
              </a:rPr>
              <a:t>Alaydrus</a:t>
            </a:r>
            <a:endParaRPr lang="en-US" sz="1600" b="1" i="1" dirty="0" smtClean="0">
              <a:latin typeface="Montserrat" pitchFamily="2" charset="0"/>
            </a:endParaRPr>
          </a:p>
          <a:p>
            <a:r>
              <a:rPr lang="en-US" sz="1600" b="1" i="1" dirty="0" smtClean="0">
                <a:latin typeface="Montserrat" pitchFamily="2" charset="0"/>
              </a:rPr>
              <a:t>0311057101</a:t>
            </a:r>
            <a:endParaRPr lang="en-ID" sz="1600" b="1" i="1" dirty="0">
              <a:latin typeface="Montserrat" pitchFamily="2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="" xmlns:a16="http://schemas.microsoft.com/office/drawing/2014/main" id="{24F2FBA0-ED5A-CAB0-129F-63629FC7493A}"/>
              </a:ext>
            </a:extLst>
          </p:cNvPr>
          <p:cNvCxnSpPr>
            <a:cxnSpLocks/>
          </p:cNvCxnSpPr>
          <p:nvPr/>
        </p:nvCxnSpPr>
        <p:spPr>
          <a:xfrm>
            <a:off x="486497" y="0"/>
            <a:ext cx="0" cy="262521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74BA7CA1-66EA-E1BE-4B67-41BCB4354578}"/>
              </a:ext>
            </a:extLst>
          </p:cNvPr>
          <p:cNvSpPr txBox="1"/>
          <p:nvPr/>
        </p:nvSpPr>
        <p:spPr>
          <a:xfrm rot="16200000">
            <a:off x="-1523683" y="4305398"/>
            <a:ext cx="4024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Montserrat" pitchFamily="2" charset="0"/>
              </a:rPr>
              <a:t>PROGRAM STUDI TEKNIK ELEKTRO</a:t>
            </a:r>
            <a:endParaRPr lang="en-ID" dirty="0">
              <a:solidFill>
                <a:schemeClr val="bg1"/>
              </a:solidFill>
              <a:latin typeface="Montserrat" pitchFamily="2" charset="0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="" xmlns:a16="http://schemas.microsoft.com/office/drawing/2014/main" id="{0383FFD2-8D2D-220B-6071-6FF5A4C9438E}"/>
              </a:ext>
            </a:extLst>
          </p:cNvPr>
          <p:cNvCxnSpPr>
            <a:cxnSpLocks/>
            <a:endCxn id="50" idx="3"/>
          </p:cNvCxnSpPr>
          <p:nvPr/>
        </p:nvCxnSpPr>
        <p:spPr>
          <a:xfrm flipH="1" flipV="1">
            <a:off x="11695996" y="4343082"/>
            <a:ext cx="9507" cy="251491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0A8899F0-A8FC-65B7-109E-F110F6CD23FB}"/>
              </a:ext>
            </a:extLst>
          </p:cNvPr>
          <p:cNvSpPr txBox="1"/>
          <p:nvPr/>
        </p:nvSpPr>
        <p:spPr>
          <a:xfrm rot="5400000">
            <a:off x="9760430" y="2222850"/>
            <a:ext cx="3871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Montserrat" pitchFamily="2" charset="0"/>
              </a:rPr>
              <a:t>PROGRAM STUDI TEKNIK ELEKTRO</a:t>
            </a:r>
            <a:endParaRPr lang="en-ID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EBE8036E-9F92-D7FD-B7DD-D756E1C023E3}"/>
              </a:ext>
            </a:extLst>
          </p:cNvPr>
          <p:cNvSpPr/>
          <p:nvPr/>
        </p:nvSpPr>
        <p:spPr>
          <a:xfrm>
            <a:off x="4975083" y="2039707"/>
            <a:ext cx="2241833" cy="23033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788" y="2242743"/>
            <a:ext cx="1870424" cy="155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43864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2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=""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678F4D7-6000-3FF5-DAE7-3EDD4E0D7E98}"/>
              </a:ext>
            </a:extLst>
          </p:cNvPr>
          <p:cNvSpPr txBox="1"/>
          <p:nvPr/>
        </p:nvSpPr>
        <p:spPr>
          <a:xfrm>
            <a:off x="3857704" y="2096125"/>
            <a:ext cx="442579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BAB I</a:t>
            </a:r>
            <a:endParaRPr lang="en-ID" sz="115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11" name="Rectangle: Rounded Corners 10">
            <a:hlinkClick r:id="rId2" action="ppaction://hlinksldjump"/>
            <a:extLst>
              <a:ext uri="{FF2B5EF4-FFF2-40B4-BE49-F238E27FC236}">
                <a16:creationId xmlns="" xmlns:a16="http://schemas.microsoft.com/office/drawing/2014/main" id="{A053D7D1-6394-2720-52C2-3E4347007BE6}"/>
              </a:ext>
            </a:extLst>
          </p:cNvPr>
          <p:cNvSpPr/>
          <p:nvPr/>
        </p:nvSpPr>
        <p:spPr>
          <a:xfrm>
            <a:off x="1244600" y="4521200"/>
            <a:ext cx="2311400" cy="495300"/>
          </a:xfrm>
          <a:prstGeom prst="roundRect">
            <a:avLst>
              <a:gd name="adj" fmla="val 50000"/>
            </a:avLst>
          </a:prstGeom>
          <a:solidFill>
            <a:srgbClr val="E8A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Gotham Rounded Medium" panose="02000000000000000000" pitchFamily="50" charset="0"/>
              </a:rPr>
              <a:t>Latar</a:t>
            </a:r>
            <a:r>
              <a:rPr lang="en-US" sz="1600" dirty="0">
                <a:latin typeface="Gotham Rounded Medium" panose="02000000000000000000" pitchFamily="50" charset="0"/>
              </a:rPr>
              <a:t> </a:t>
            </a:r>
            <a:r>
              <a:rPr lang="en-US" sz="1600" dirty="0" err="1">
                <a:latin typeface="Gotham Rounded Medium" panose="02000000000000000000" pitchFamily="50" charset="0"/>
              </a:rPr>
              <a:t>Belakang</a:t>
            </a:r>
            <a:endParaRPr lang="en-ID" sz="1600" dirty="0">
              <a:latin typeface="Gotham Rounded Medium" panose="02000000000000000000" pitchFamily="50" charset="0"/>
            </a:endParaRPr>
          </a:p>
        </p:txBody>
      </p:sp>
      <p:sp>
        <p:nvSpPr>
          <p:cNvPr id="12" name="Rectangle: Rounded Corners 11">
            <a:hlinkClick r:id="rId3" action="ppaction://hlinksldjump"/>
            <a:extLst>
              <a:ext uri="{FF2B5EF4-FFF2-40B4-BE49-F238E27FC236}">
                <a16:creationId xmlns="" xmlns:a16="http://schemas.microsoft.com/office/drawing/2014/main" id="{29ED3A16-0F3A-CBF7-BEBB-6E61F2C91D7E}"/>
              </a:ext>
            </a:extLst>
          </p:cNvPr>
          <p:cNvSpPr/>
          <p:nvPr/>
        </p:nvSpPr>
        <p:spPr>
          <a:xfrm>
            <a:off x="3657600" y="4521200"/>
            <a:ext cx="2311400" cy="495300"/>
          </a:xfrm>
          <a:prstGeom prst="roundRect">
            <a:avLst>
              <a:gd name="adj" fmla="val 50000"/>
            </a:avLst>
          </a:prstGeom>
          <a:solidFill>
            <a:srgbClr val="E8A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Gotham Rounded Medium" panose="02000000000000000000" pitchFamily="50" charset="0"/>
              </a:rPr>
              <a:t>Rumusan</a:t>
            </a:r>
            <a:r>
              <a:rPr lang="en-US" sz="1600" dirty="0">
                <a:latin typeface="Gotham Rounded Medium" panose="02000000000000000000" pitchFamily="50" charset="0"/>
              </a:rPr>
              <a:t> </a:t>
            </a:r>
            <a:r>
              <a:rPr lang="en-US" sz="1600" dirty="0" err="1">
                <a:latin typeface="Gotham Rounded Medium" panose="02000000000000000000" pitchFamily="50" charset="0"/>
              </a:rPr>
              <a:t>Masalah</a:t>
            </a:r>
            <a:endParaRPr lang="en-ID" sz="1600" dirty="0">
              <a:latin typeface="Gotham Rounded Medium" panose="02000000000000000000" pitchFamily="50" charset="0"/>
            </a:endParaRPr>
          </a:p>
        </p:txBody>
      </p:sp>
      <p:sp>
        <p:nvSpPr>
          <p:cNvPr id="13" name="Rectangle: Rounded Corners 12">
            <a:hlinkClick r:id="rId4" action="ppaction://hlinksldjump"/>
            <a:extLst>
              <a:ext uri="{FF2B5EF4-FFF2-40B4-BE49-F238E27FC236}">
                <a16:creationId xmlns="" xmlns:a16="http://schemas.microsoft.com/office/drawing/2014/main" id="{B3BCF7DC-8FE6-D53F-222D-522AD171D4C8}"/>
              </a:ext>
            </a:extLst>
          </p:cNvPr>
          <p:cNvSpPr/>
          <p:nvPr/>
        </p:nvSpPr>
        <p:spPr>
          <a:xfrm>
            <a:off x="6070600" y="4521200"/>
            <a:ext cx="2311400" cy="495300"/>
          </a:xfrm>
          <a:prstGeom prst="roundRect">
            <a:avLst>
              <a:gd name="adj" fmla="val 50000"/>
            </a:avLst>
          </a:prstGeom>
          <a:solidFill>
            <a:srgbClr val="E8A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Gotham Rounded Medium" panose="02000000000000000000" pitchFamily="50" charset="0"/>
              </a:rPr>
              <a:t>Tujuan</a:t>
            </a:r>
            <a:r>
              <a:rPr lang="en-US" sz="1600" dirty="0">
                <a:latin typeface="Gotham Rounded Medium" panose="02000000000000000000" pitchFamily="50" charset="0"/>
              </a:rPr>
              <a:t> </a:t>
            </a:r>
            <a:r>
              <a:rPr lang="en-US" sz="1600" dirty="0" err="1">
                <a:latin typeface="Gotham Rounded Medium" panose="02000000000000000000" pitchFamily="50" charset="0"/>
              </a:rPr>
              <a:t>Penelitian</a:t>
            </a:r>
            <a:endParaRPr lang="en-ID" sz="1600" dirty="0">
              <a:latin typeface="Gotham Rounded Medium" panose="02000000000000000000" pitchFamily="50" charset="0"/>
            </a:endParaRPr>
          </a:p>
        </p:txBody>
      </p:sp>
      <p:sp>
        <p:nvSpPr>
          <p:cNvPr id="14" name="Rectangle: Rounded Corners 13">
            <a:hlinkClick r:id="rId5" action="ppaction://hlinksldjump"/>
            <a:extLst>
              <a:ext uri="{FF2B5EF4-FFF2-40B4-BE49-F238E27FC236}">
                <a16:creationId xmlns="" xmlns:a16="http://schemas.microsoft.com/office/drawing/2014/main" id="{7571C96B-5687-19D5-8CD6-4F27DE1D35BB}"/>
              </a:ext>
            </a:extLst>
          </p:cNvPr>
          <p:cNvSpPr/>
          <p:nvPr/>
        </p:nvSpPr>
        <p:spPr>
          <a:xfrm>
            <a:off x="8483600" y="4521200"/>
            <a:ext cx="2311400" cy="495300"/>
          </a:xfrm>
          <a:prstGeom prst="roundRect">
            <a:avLst>
              <a:gd name="adj" fmla="val 50000"/>
            </a:avLst>
          </a:prstGeom>
          <a:solidFill>
            <a:srgbClr val="E8A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>
                <a:latin typeface="Gotham Rounded Medium" panose="02000000000000000000" pitchFamily="50" charset="0"/>
              </a:rPr>
              <a:t>Batasan</a:t>
            </a:r>
            <a:r>
              <a:rPr lang="en-US" sz="1600" dirty="0" smtClean="0">
                <a:latin typeface="Gotham Rounded Medium" panose="02000000000000000000" pitchFamily="50" charset="0"/>
              </a:rPr>
              <a:t> </a:t>
            </a:r>
            <a:r>
              <a:rPr lang="en-US" sz="1600" dirty="0" err="1" smtClean="0">
                <a:latin typeface="Gotham Rounded Medium" panose="02000000000000000000" pitchFamily="50" charset="0"/>
              </a:rPr>
              <a:t>Masalah</a:t>
            </a:r>
            <a:endParaRPr lang="en-ID" sz="1600" dirty="0">
              <a:latin typeface="Gotham Rounded Medium" panose="02000000000000000000" pitchFamily="50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CC1E6EB4-35B6-95BC-6DEC-1DD1ADB2AF73}"/>
              </a:ext>
            </a:extLst>
          </p:cNvPr>
          <p:cNvSpPr txBox="1"/>
          <p:nvPr/>
        </p:nvSpPr>
        <p:spPr>
          <a:xfrm>
            <a:off x="1895674" y="5083085"/>
            <a:ext cx="8446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Page 1</a:t>
            </a:r>
            <a:endParaRPr lang="en-ID" sz="16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28A73EB9-DD7D-2B79-F78C-64F778DE87CA}"/>
              </a:ext>
            </a:extLst>
          </p:cNvPr>
          <p:cNvSpPr txBox="1"/>
          <p:nvPr/>
        </p:nvSpPr>
        <p:spPr>
          <a:xfrm>
            <a:off x="4390972" y="5083085"/>
            <a:ext cx="8879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Page 2</a:t>
            </a:r>
            <a:endParaRPr lang="en-ID" sz="16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3903EC5-D736-43BD-14C6-E892C9E219D5}"/>
              </a:ext>
            </a:extLst>
          </p:cNvPr>
          <p:cNvSpPr txBox="1"/>
          <p:nvPr/>
        </p:nvSpPr>
        <p:spPr>
          <a:xfrm>
            <a:off x="6781530" y="5083085"/>
            <a:ext cx="8895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Page 3</a:t>
            </a:r>
            <a:endParaRPr lang="en-ID" sz="16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7827D0FE-6DF4-934C-F58C-79EC4784A9D4}"/>
              </a:ext>
            </a:extLst>
          </p:cNvPr>
          <p:cNvSpPr txBox="1"/>
          <p:nvPr/>
        </p:nvSpPr>
        <p:spPr>
          <a:xfrm>
            <a:off x="9188118" y="5083085"/>
            <a:ext cx="9023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Page 4</a:t>
            </a:r>
            <a:endParaRPr lang="en-ID" sz="16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012" y="1092338"/>
            <a:ext cx="1209975" cy="100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8596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2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=""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E95FD8C-E23C-C660-360A-5A627B8FA748}"/>
              </a:ext>
            </a:extLst>
          </p:cNvPr>
          <p:cNvSpPr txBox="1"/>
          <p:nvPr/>
        </p:nvSpPr>
        <p:spPr>
          <a:xfrm>
            <a:off x="1236932" y="5689478"/>
            <a:ext cx="824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otham Rounded Book" pitchFamily="50" charset="0"/>
              </a:rPr>
              <a:t>Page</a:t>
            </a:r>
            <a:endParaRPr lang="en-ID" sz="2000" dirty="0">
              <a:latin typeface="Gotham Rounded Book" pitchFamily="50" charset="0"/>
            </a:endParaRPr>
          </a:p>
        </p:txBody>
      </p:sp>
      <p:sp>
        <p:nvSpPr>
          <p:cNvPr id="4" name="TextBox 3">
            <a:hlinkClick r:id="rId2" action="ppaction://hlinksldjump"/>
            <a:extLst>
              <a:ext uri="{FF2B5EF4-FFF2-40B4-BE49-F238E27FC236}">
                <a16:creationId xmlns="" xmlns:a16="http://schemas.microsoft.com/office/drawing/2014/main" id="{09A9C827-E9D9-AAC9-8975-19E69403BE4D}"/>
              </a:ext>
            </a:extLst>
          </p:cNvPr>
          <p:cNvSpPr txBox="1"/>
          <p:nvPr/>
        </p:nvSpPr>
        <p:spPr>
          <a:xfrm>
            <a:off x="2037925" y="5689478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25464"/>
                </a:solidFill>
                <a:latin typeface="Gotham Rounded Bold" pitchFamily="50" charset="0"/>
              </a:rPr>
              <a:t>1</a:t>
            </a:r>
            <a:endParaRPr lang="en-ID" sz="2000" dirty="0">
              <a:solidFill>
                <a:srgbClr val="025464"/>
              </a:solidFill>
              <a:latin typeface="Gotham Rounded Bold" pitchFamily="50" charset="0"/>
            </a:endParaRPr>
          </a:p>
        </p:txBody>
      </p:sp>
      <p:sp>
        <p:nvSpPr>
          <p:cNvPr id="5" name="TextBox 4">
            <a:hlinkClick r:id="rId3" action="ppaction://hlinksldjump"/>
            <a:extLst>
              <a:ext uri="{FF2B5EF4-FFF2-40B4-BE49-F238E27FC236}">
                <a16:creationId xmlns="" xmlns:a16="http://schemas.microsoft.com/office/drawing/2014/main" id="{43A052BB-3CDA-6FB3-D827-0612FACDF6F7}"/>
              </a:ext>
            </a:extLst>
          </p:cNvPr>
          <p:cNvSpPr txBox="1"/>
          <p:nvPr/>
        </p:nvSpPr>
        <p:spPr>
          <a:xfrm>
            <a:off x="2339611" y="5702178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2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6" name="TextBox 5">
            <a:hlinkClick r:id="rId4" action="ppaction://hlinksldjump"/>
            <a:extLst>
              <a:ext uri="{FF2B5EF4-FFF2-40B4-BE49-F238E27FC236}">
                <a16:creationId xmlns="" xmlns:a16="http://schemas.microsoft.com/office/drawing/2014/main" id="{BD236426-171F-07DF-F3CF-3C3788E93925}"/>
              </a:ext>
            </a:extLst>
          </p:cNvPr>
          <p:cNvSpPr txBox="1"/>
          <p:nvPr/>
        </p:nvSpPr>
        <p:spPr>
          <a:xfrm>
            <a:off x="2669380" y="570217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3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7" name="TextBox 6">
            <a:hlinkClick r:id="rId5" action="ppaction://hlinksldjump"/>
            <a:extLst>
              <a:ext uri="{FF2B5EF4-FFF2-40B4-BE49-F238E27FC236}">
                <a16:creationId xmlns="" xmlns:a16="http://schemas.microsoft.com/office/drawing/2014/main" id="{0044E27E-62AF-6496-00A5-1E419B2D095A}"/>
              </a:ext>
            </a:extLst>
          </p:cNvPr>
          <p:cNvSpPr txBox="1"/>
          <p:nvPr/>
        </p:nvSpPr>
        <p:spPr>
          <a:xfrm>
            <a:off x="2999149" y="5702178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4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BAD41D2-470F-DE24-FA6A-2F117B3375E2}"/>
              </a:ext>
            </a:extLst>
          </p:cNvPr>
          <p:cNvSpPr txBox="1"/>
          <p:nvPr/>
        </p:nvSpPr>
        <p:spPr>
          <a:xfrm>
            <a:off x="1049081" y="1388910"/>
            <a:ext cx="3982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Latar</a:t>
            </a:r>
            <a:r>
              <a:rPr lang="en-US" sz="36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 </a:t>
            </a:r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Belakang</a:t>
            </a:r>
            <a:r>
              <a:rPr lang="en-US" sz="36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 </a:t>
            </a:r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Masalah</a:t>
            </a:r>
            <a:endParaRPr lang="en-ID" sz="36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="" xmlns:a16="http://schemas.microsoft.com/office/drawing/2014/main" id="{D07936BF-C84F-7D65-2BF2-2317C10E14C9}"/>
              </a:ext>
            </a:extLst>
          </p:cNvPr>
          <p:cNvGrpSpPr/>
          <p:nvPr/>
        </p:nvGrpSpPr>
        <p:grpSpPr>
          <a:xfrm>
            <a:off x="1436588" y="2743200"/>
            <a:ext cx="3595261" cy="2714011"/>
            <a:chOff x="1329956" y="3116024"/>
            <a:chExt cx="2934559" cy="1761076"/>
          </a:xfrm>
          <a:blipFill>
            <a:blip r:embed="rId6"/>
            <a:stretch>
              <a:fillRect/>
            </a:stretch>
          </a:blipFill>
        </p:grpSpPr>
        <p:sp>
          <p:nvSpPr>
            <p:cNvPr id="28" name="Freeform: Shape 27">
              <a:extLst>
                <a:ext uri="{FF2B5EF4-FFF2-40B4-BE49-F238E27FC236}">
                  <a16:creationId xmlns="" xmlns:a16="http://schemas.microsoft.com/office/drawing/2014/main" id="{A8666174-804A-E433-1548-F2C41BC1A903}"/>
                </a:ext>
              </a:extLst>
            </p:cNvPr>
            <p:cNvSpPr/>
            <p:nvPr/>
          </p:nvSpPr>
          <p:spPr>
            <a:xfrm>
              <a:off x="1329956" y="3116024"/>
              <a:ext cx="2934559" cy="1742813"/>
            </a:xfrm>
            <a:custGeom>
              <a:avLst/>
              <a:gdLst>
                <a:gd name="connsiteX0" fmla="*/ 2753094 w 2934559"/>
                <a:gd name="connsiteY0" fmla="*/ 0 h 362931"/>
                <a:gd name="connsiteX1" fmla="*/ 2934560 w 2934559"/>
                <a:gd name="connsiteY1" fmla="*/ 181466 h 362931"/>
                <a:gd name="connsiteX2" fmla="*/ 2934560 w 2934559"/>
                <a:gd name="connsiteY2" fmla="*/ 181466 h 362931"/>
                <a:gd name="connsiteX3" fmla="*/ 2753094 w 2934559"/>
                <a:gd name="connsiteY3" fmla="*/ 362932 h 362931"/>
                <a:gd name="connsiteX4" fmla="*/ 181466 w 2934559"/>
                <a:gd name="connsiteY4" fmla="*/ 362932 h 362931"/>
                <a:gd name="connsiteX5" fmla="*/ 0 w 2934559"/>
                <a:gd name="connsiteY5" fmla="*/ 181466 h 362931"/>
                <a:gd name="connsiteX6" fmla="*/ 0 w 2934559"/>
                <a:gd name="connsiteY6" fmla="*/ 181466 h 362931"/>
                <a:gd name="connsiteX7" fmla="*/ 181466 w 2934559"/>
                <a:gd name="connsiteY7" fmla="*/ 0 h 3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34559" h="362931">
                  <a:moveTo>
                    <a:pt x="2753094" y="0"/>
                  </a:moveTo>
                  <a:cubicBezTo>
                    <a:pt x="2853315" y="0"/>
                    <a:pt x="2934560" y="81245"/>
                    <a:pt x="2934560" y="181466"/>
                  </a:cubicBezTo>
                  <a:lnTo>
                    <a:pt x="2934560" y="181466"/>
                  </a:lnTo>
                  <a:cubicBezTo>
                    <a:pt x="2934560" y="281687"/>
                    <a:pt x="2853315" y="362932"/>
                    <a:pt x="2753094" y="362932"/>
                  </a:cubicBezTo>
                  <a:lnTo>
                    <a:pt x="181466" y="362932"/>
                  </a:lnTo>
                  <a:cubicBezTo>
                    <a:pt x="81245" y="362932"/>
                    <a:pt x="0" y="281687"/>
                    <a:pt x="0" y="181466"/>
                  </a:cubicBezTo>
                  <a:lnTo>
                    <a:pt x="0" y="181466"/>
                  </a:lnTo>
                  <a:cubicBezTo>
                    <a:pt x="0" y="81245"/>
                    <a:pt x="81245" y="0"/>
                    <a:pt x="181466" y="0"/>
                  </a:cubicBezTo>
                  <a:close/>
                </a:path>
              </a:pathLst>
            </a:custGeom>
            <a:grpFill/>
            <a:ln w="55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D">
                <a:solidFill>
                  <a:srgbClr val="025464"/>
                </a:solidFill>
              </a:endParaRPr>
            </a:p>
          </p:txBody>
        </p:sp>
        <p:grpSp>
          <p:nvGrpSpPr>
            <p:cNvPr id="29" name="Graphic 9">
              <a:extLst>
                <a:ext uri="{FF2B5EF4-FFF2-40B4-BE49-F238E27FC236}">
                  <a16:creationId xmlns="" xmlns:a16="http://schemas.microsoft.com/office/drawing/2014/main" id="{B0301F40-4D75-F600-2656-52691CD5447C}"/>
                </a:ext>
              </a:extLst>
            </p:cNvPr>
            <p:cNvGrpSpPr/>
            <p:nvPr/>
          </p:nvGrpSpPr>
          <p:grpSpPr>
            <a:xfrm>
              <a:off x="2670653" y="4412412"/>
              <a:ext cx="498196" cy="464688"/>
              <a:chOff x="6607653" y="2299688"/>
              <a:chExt cx="498196" cy="464688"/>
            </a:xfrm>
            <a:grpFill/>
          </p:grpSpPr>
          <p:sp>
            <p:nvSpPr>
              <p:cNvPr id="30" name="Freeform: Shape 29">
                <a:extLst>
                  <a:ext uri="{FF2B5EF4-FFF2-40B4-BE49-F238E27FC236}">
                    <a16:creationId xmlns="" xmlns:a16="http://schemas.microsoft.com/office/drawing/2014/main" id="{A98BAE83-A4B9-FBBD-A005-F4F7EB5D9981}"/>
                  </a:ext>
                </a:extLst>
              </p:cNvPr>
              <p:cNvSpPr/>
              <p:nvPr/>
            </p:nvSpPr>
            <p:spPr>
              <a:xfrm>
                <a:off x="6607653" y="2299688"/>
                <a:ext cx="329686" cy="329686"/>
              </a:xfrm>
              <a:custGeom>
                <a:avLst/>
                <a:gdLst>
                  <a:gd name="connsiteX0" fmla="*/ 164841 w 329686"/>
                  <a:gd name="connsiteY0" fmla="*/ 329687 h 329686"/>
                  <a:gd name="connsiteX1" fmla="*/ 0 w 329686"/>
                  <a:gd name="connsiteY1" fmla="*/ 164846 h 329686"/>
                  <a:gd name="connsiteX2" fmla="*/ 164841 w 329686"/>
                  <a:gd name="connsiteY2" fmla="*/ 0 h 329686"/>
                  <a:gd name="connsiteX3" fmla="*/ 329687 w 329686"/>
                  <a:gd name="connsiteY3" fmla="*/ 164846 h 329686"/>
                  <a:gd name="connsiteX4" fmla="*/ 164841 w 329686"/>
                  <a:gd name="connsiteY4" fmla="*/ 329687 h 329686"/>
                  <a:gd name="connsiteX5" fmla="*/ 164841 w 329686"/>
                  <a:gd name="connsiteY5" fmla="*/ 44795 h 329686"/>
                  <a:gd name="connsiteX6" fmla="*/ 44795 w 329686"/>
                  <a:gd name="connsiteY6" fmla="*/ 164846 h 329686"/>
                  <a:gd name="connsiteX7" fmla="*/ 164841 w 329686"/>
                  <a:gd name="connsiteY7" fmla="*/ 284892 h 329686"/>
                  <a:gd name="connsiteX8" fmla="*/ 284892 w 329686"/>
                  <a:gd name="connsiteY8" fmla="*/ 164846 h 329686"/>
                  <a:gd name="connsiteX9" fmla="*/ 164841 w 329686"/>
                  <a:gd name="connsiteY9" fmla="*/ 44795 h 329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9686" h="329686">
                    <a:moveTo>
                      <a:pt x="164841" y="329687"/>
                    </a:moveTo>
                    <a:cubicBezTo>
                      <a:pt x="73946" y="329687"/>
                      <a:pt x="0" y="255741"/>
                      <a:pt x="0" y="164846"/>
                    </a:cubicBezTo>
                    <a:cubicBezTo>
                      <a:pt x="0" y="73951"/>
                      <a:pt x="73946" y="0"/>
                      <a:pt x="164841" y="0"/>
                    </a:cubicBezTo>
                    <a:cubicBezTo>
                      <a:pt x="255736" y="0"/>
                      <a:pt x="329687" y="73951"/>
                      <a:pt x="329687" y="164846"/>
                    </a:cubicBezTo>
                    <a:cubicBezTo>
                      <a:pt x="329687" y="255741"/>
                      <a:pt x="255736" y="329687"/>
                      <a:pt x="164841" y="329687"/>
                    </a:cubicBezTo>
                    <a:close/>
                    <a:moveTo>
                      <a:pt x="164841" y="44795"/>
                    </a:moveTo>
                    <a:cubicBezTo>
                      <a:pt x="98645" y="44795"/>
                      <a:pt x="44795" y="98650"/>
                      <a:pt x="44795" y="164846"/>
                    </a:cubicBezTo>
                    <a:cubicBezTo>
                      <a:pt x="44795" y="231042"/>
                      <a:pt x="98645" y="284892"/>
                      <a:pt x="164841" y="284892"/>
                    </a:cubicBezTo>
                    <a:cubicBezTo>
                      <a:pt x="231037" y="284892"/>
                      <a:pt x="284892" y="231042"/>
                      <a:pt x="284892" y="164846"/>
                    </a:cubicBezTo>
                    <a:cubicBezTo>
                      <a:pt x="284892" y="98650"/>
                      <a:pt x="231037" y="44795"/>
                      <a:pt x="164841" y="44795"/>
                    </a:cubicBezTo>
                    <a:close/>
                  </a:path>
                </a:pathLst>
              </a:custGeom>
              <a:grpFill/>
              <a:ln w="55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="" xmlns:a16="http://schemas.microsoft.com/office/drawing/2014/main" id="{C7F95786-714A-45CA-5772-F5ED30EC85A0}"/>
                  </a:ext>
                </a:extLst>
              </p:cNvPr>
              <p:cNvSpPr/>
              <p:nvPr/>
            </p:nvSpPr>
            <p:spPr>
              <a:xfrm>
                <a:off x="6852685" y="2540904"/>
                <a:ext cx="253164" cy="223472"/>
              </a:xfrm>
              <a:custGeom>
                <a:avLst/>
                <a:gdLst>
                  <a:gd name="connsiteX0" fmla="*/ 230759 w 253164"/>
                  <a:gd name="connsiteY0" fmla="*/ 223472 h 223472"/>
                  <a:gd name="connsiteX1" fmla="*/ 216190 w 253164"/>
                  <a:gd name="connsiteY1" fmla="*/ 218075 h 223472"/>
                  <a:gd name="connsiteX2" fmla="*/ 7819 w 253164"/>
                  <a:gd name="connsiteY2" fmla="*/ 39404 h 223472"/>
                  <a:gd name="connsiteX3" fmla="*/ 5395 w 253164"/>
                  <a:gd name="connsiteY3" fmla="*/ 7817 h 223472"/>
                  <a:gd name="connsiteX4" fmla="*/ 36975 w 253164"/>
                  <a:gd name="connsiteY4" fmla="*/ 5393 h 223472"/>
                  <a:gd name="connsiteX5" fmla="*/ 245346 w 253164"/>
                  <a:gd name="connsiteY5" fmla="*/ 184070 h 223472"/>
                  <a:gd name="connsiteX6" fmla="*/ 247770 w 253164"/>
                  <a:gd name="connsiteY6" fmla="*/ 215656 h 223472"/>
                  <a:gd name="connsiteX7" fmla="*/ 230759 w 253164"/>
                  <a:gd name="connsiteY7" fmla="*/ 223472 h 223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3164" h="223472">
                    <a:moveTo>
                      <a:pt x="230759" y="223472"/>
                    </a:moveTo>
                    <a:cubicBezTo>
                      <a:pt x="225597" y="223472"/>
                      <a:pt x="220412" y="221697"/>
                      <a:pt x="216190" y="218075"/>
                    </a:cubicBezTo>
                    <a:lnTo>
                      <a:pt x="7819" y="39404"/>
                    </a:lnTo>
                    <a:cubicBezTo>
                      <a:pt x="-1571" y="31352"/>
                      <a:pt x="-2657" y="17207"/>
                      <a:pt x="5395" y="7817"/>
                    </a:cubicBezTo>
                    <a:cubicBezTo>
                      <a:pt x="13447" y="-1567"/>
                      <a:pt x="27585" y="-2659"/>
                      <a:pt x="36975" y="5393"/>
                    </a:cubicBezTo>
                    <a:lnTo>
                      <a:pt x="245346" y="184070"/>
                    </a:lnTo>
                    <a:cubicBezTo>
                      <a:pt x="254736" y="192121"/>
                      <a:pt x="255822" y="206265"/>
                      <a:pt x="247770" y="215656"/>
                    </a:cubicBezTo>
                    <a:cubicBezTo>
                      <a:pt x="243341" y="220818"/>
                      <a:pt x="237070" y="223472"/>
                      <a:pt x="230759" y="223472"/>
                    </a:cubicBezTo>
                    <a:close/>
                  </a:path>
                </a:pathLst>
              </a:custGeom>
              <a:grpFill/>
              <a:ln w="55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ID"/>
              </a:p>
            </p:txBody>
          </p:sp>
        </p:grpSp>
        <p:sp>
          <p:nvSpPr>
            <p:cNvPr id="33" name="Freeform: Shape 32">
              <a:extLst>
                <a:ext uri="{FF2B5EF4-FFF2-40B4-BE49-F238E27FC236}">
                  <a16:creationId xmlns="" xmlns:a16="http://schemas.microsoft.com/office/drawing/2014/main" id="{97EBD71E-E705-8355-352F-18F0D0FBE348}"/>
                </a:ext>
              </a:extLst>
            </p:cNvPr>
            <p:cNvSpPr/>
            <p:nvPr/>
          </p:nvSpPr>
          <p:spPr>
            <a:xfrm>
              <a:off x="3684491" y="3642102"/>
              <a:ext cx="580024" cy="46083"/>
            </a:xfrm>
            <a:custGeom>
              <a:avLst/>
              <a:gdLst>
                <a:gd name="connsiteX0" fmla="*/ 556983 w 580024"/>
                <a:gd name="connsiteY0" fmla="*/ 0 h 46083"/>
                <a:gd name="connsiteX1" fmla="*/ 580025 w 580024"/>
                <a:gd name="connsiteY1" fmla="*/ 23042 h 46083"/>
                <a:gd name="connsiteX2" fmla="*/ 580025 w 580024"/>
                <a:gd name="connsiteY2" fmla="*/ 23042 h 46083"/>
                <a:gd name="connsiteX3" fmla="*/ 556983 w 580024"/>
                <a:gd name="connsiteY3" fmla="*/ 46084 h 46083"/>
                <a:gd name="connsiteX4" fmla="*/ 23042 w 580024"/>
                <a:gd name="connsiteY4" fmla="*/ 46084 h 46083"/>
                <a:gd name="connsiteX5" fmla="*/ 0 w 580024"/>
                <a:gd name="connsiteY5" fmla="*/ 23042 h 46083"/>
                <a:gd name="connsiteX6" fmla="*/ 0 w 580024"/>
                <a:gd name="connsiteY6" fmla="*/ 23042 h 46083"/>
                <a:gd name="connsiteX7" fmla="*/ 23042 w 580024"/>
                <a:gd name="connsiteY7" fmla="*/ 0 h 4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80024" h="46083">
                  <a:moveTo>
                    <a:pt x="556983" y="0"/>
                  </a:moveTo>
                  <a:cubicBezTo>
                    <a:pt x="569709" y="0"/>
                    <a:pt x="580025" y="10316"/>
                    <a:pt x="580025" y="23042"/>
                  </a:cubicBezTo>
                  <a:lnTo>
                    <a:pt x="580025" y="23042"/>
                  </a:lnTo>
                  <a:cubicBezTo>
                    <a:pt x="580025" y="35768"/>
                    <a:pt x="569709" y="46084"/>
                    <a:pt x="556983" y="46084"/>
                  </a:cubicBezTo>
                  <a:lnTo>
                    <a:pt x="23042" y="46084"/>
                  </a:lnTo>
                  <a:cubicBezTo>
                    <a:pt x="10316" y="46084"/>
                    <a:pt x="0" y="35768"/>
                    <a:pt x="0" y="23042"/>
                  </a:cubicBezTo>
                  <a:lnTo>
                    <a:pt x="0" y="23042"/>
                  </a:lnTo>
                  <a:cubicBezTo>
                    <a:pt x="0" y="10316"/>
                    <a:pt x="10316" y="0"/>
                    <a:pt x="23042" y="0"/>
                  </a:cubicBezTo>
                  <a:close/>
                </a:path>
              </a:pathLst>
            </a:custGeom>
            <a:grpFill/>
            <a:ln w="55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="" xmlns:a16="http://schemas.microsoft.com/office/drawing/2014/main" id="{A4E10F58-EDCA-E6C8-230A-EE8DE66B598D}"/>
                </a:ext>
              </a:extLst>
            </p:cNvPr>
            <p:cNvSpPr/>
            <p:nvPr/>
          </p:nvSpPr>
          <p:spPr>
            <a:xfrm>
              <a:off x="1329956" y="3116024"/>
              <a:ext cx="580024" cy="46083"/>
            </a:xfrm>
            <a:custGeom>
              <a:avLst/>
              <a:gdLst>
                <a:gd name="connsiteX0" fmla="*/ 556983 w 580024"/>
                <a:gd name="connsiteY0" fmla="*/ 0 h 46083"/>
                <a:gd name="connsiteX1" fmla="*/ 580025 w 580024"/>
                <a:gd name="connsiteY1" fmla="*/ 23042 h 46083"/>
                <a:gd name="connsiteX2" fmla="*/ 580025 w 580024"/>
                <a:gd name="connsiteY2" fmla="*/ 23042 h 46083"/>
                <a:gd name="connsiteX3" fmla="*/ 556983 w 580024"/>
                <a:gd name="connsiteY3" fmla="*/ 46084 h 46083"/>
                <a:gd name="connsiteX4" fmla="*/ 23042 w 580024"/>
                <a:gd name="connsiteY4" fmla="*/ 46084 h 46083"/>
                <a:gd name="connsiteX5" fmla="*/ 0 w 580024"/>
                <a:gd name="connsiteY5" fmla="*/ 23042 h 46083"/>
                <a:gd name="connsiteX6" fmla="*/ 0 w 580024"/>
                <a:gd name="connsiteY6" fmla="*/ 23042 h 46083"/>
                <a:gd name="connsiteX7" fmla="*/ 23042 w 580024"/>
                <a:gd name="connsiteY7" fmla="*/ 0 h 4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80024" h="46083">
                  <a:moveTo>
                    <a:pt x="556983" y="0"/>
                  </a:moveTo>
                  <a:cubicBezTo>
                    <a:pt x="569709" y="0"/>
                    <a:pt x="580025" y="10316"/>
                    <a:pt x="580025" y="23042"/>
                  </a:cubicBezTo>
                  <a:lnTo>
                    <a:pt x="580025" y="23042"/>
                  </a:lnTo>
                  <a:cubicBezTo>
                    <a:pt x="580025" y="35768"/>
                    <a:pt x="569709" y="46084"/>
                    <a:pt x="556983" y="46084"/>
                  </a:cubicBezTo>
                  <a:lnTo>
                    <a:pt x="23042" y="46084"/>
                  </a:lnTo>
                  <a:cubicBezTo>
                    <a:pt x="10316" y="46084"/>
                    <a:pt x="0" y="35768"/>
                    <a:pt x="0" y="23042"/>
                  </a:cubicBezTo>
                  <a:lnTo>
                    <a:pt x="0" y="23042"/>
                  </a:lnTo>
                  <a:cubicBezTo>
                    <a:pt x="0" y="10316"/>
                    <a:pt x="10316" y="0"/>
                    <a:pt x="23042" y="0"/>
                  </a:cubicBezTo>
                  <a:close/>
                </a:path>
              </a:pathLst>
            </a:custGeom>
            <a:grpFill/>
            <a:ln w="55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="" xmlns:a16="http://schemas.microsoft.com/office/drawing/2014/main" id="{CC980E5B-C10F-107C-2C34-59D65A92F567}"/>
                </a:ext>
              </a:extLst>
            </p:cNvPr>
            <p:cNvSpPr/>
            <p:nvPr/>
          </p:nvSpPr>
          <p:spPr>
            <a:xfrm>
              <a:off x="1329956" y="3317122"/>
              <a:ext cx="1613231" cy="46083"/>
            </a:xfrm>
            <a:custGeom>
              <a:avLst/>
              <a:gdLst>
                <a:gd name="connsiteX0" fmla="*/ 1590189 w 1613231"/>
                <a:gd name="connsiteY0" fmla="*/ 0 h 46083"/>
                <a:gd name="connsiteX1" fmla="*/ 1613231 w 1613231"/>
                <a:gd name="connsiteY1" fmla="*/ 23042 h 46083"/>
                <a:gd name="connsiteX2" fmla="*/ 1613231 w 1613231"/>
                <a:gd name="connsiteY2" fmla="*/ 23042 h 46083"/>
                <a:gd name="connsiteX3" fmla="*/ 1590189 w 1613231"/>
                <a:gd name="connsiteY3" fmla="*/ 46084 h 46083"/>
                <a:gd name="connsiteX4" fmla="*/ 23042 w 1613231"/>
                <a:gd name="connsiteY4" fmla="*/ 46084 h 46083"/>
                <a:gd name="connsiteX5" fmla="*/ 0 w 1613231"/>
                <a:gd name="connsiteY5" fmla="*/ 23042 h 46083"/>
                <a:gd name="connsiteX6" fmla="*/ 0 w 1613231"/>
                <a:gd name="connsiteY6" fmla="*/ 23042 h 46083"/>
                <a:gd name="connsiteX7" fmla="*/ 23042 w 1613231"/>
                <a:gd name="connsiteY7" fmla="*/ 0 h 4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13231" h="46083">
                  <a:moveTo>
                    <a:pt x="1590189" y="0"/>
                  </a:moveTo>
                  <a:cubicBezTo>
                    <a:pt x="1602915" y="0"/>
                    <a:pt x="1613231" y="10316"/>
                    <a:pt x="1613231" y="23042"/>
                  </a:cubicBezTo>
                  <a:lnTo>
                    <a:pt x="1613231" y="23042"/>
                  </a:lnTo>
                  <a:cubicBezTo>
                    <a:pt x="1613231" y="35768"/>
                    <a:pt x="1602915" y="46084"/>
                    <a:pt x="1590189" y="46084"/>
                  </a:cubicBezTo>
                  <a:lnTo>
                    <a:pt x="23042" y="46084"/>
                  </a:lnTo>
                  <a:cubicBezTo>
                    <a:pt x="10316" y="46084"/>
                    <a:pt x="0" y="35768"/>
                    <a:pt x="0" y="23042"/>
                  </a:cubicBezTo>
                  <a:lnTo>
                    <a:pt x="0" y="23042"/>
                  </a:lnTo>
                  <a:cubicBezTo>
                    <a:pt x="0" y="10316"/>
                    <a:pt x="10316" y="0"/>
                    <a:pt x="23042" y="0"/>
                  </a:cubicBezTo>
                  <a:close/>
                </a:path>
              </a:pathLst>
            </a:custGeom>
            <a:grpFill/>
            <a:ln w="55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D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5DE30507-4D03-75AA-8664-CF999B6F7C76}"/>
              </a:ext>
            </a:extLst>
          </p:cNvPr>
          <p:cNvSpPr txBox="1"/>
          <p:nvPr/>
        </p:nvSpPr>
        <p:spPr>
          <a:xfrm>
            <a:off x="5266106" y="954892"/>
            <a:ext cx="564255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274638"/>
            <a:r>
              <a:rPr lang="en-US" sz="2000" dirty="0" smtClean="0">
                <a:latin typeface="Gotham Rounded Book" pitchFamily="50" charset="0"/>
              </a:rPr>
              <a:t>	</a:t>
            </a:r>
            <a:r>
              <a:rPr lang="en-US" sz="2000" dirty="0" err="1" smtClean="0">
                <a:latin typeface="Gotham Rounded Book" pitchFamily="50" charset="0"/>
              </a:rPr>
              <a:t>Populasi</a:t>
            </a:r>
            <a:r>
              <a:rPr lang="en-US" sz="2000" dirty="0" smtClean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dunia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terus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tumbuh</a:t>
            </a:r>
            <a:r>
              <a:rPr lang="en-US" sz="2000" dirty="0">
                <a:latin typeface="Gotham Rounded Book" pitchFamily="50" charset="0"/>
              </a:rPr>
              <a:t>, </a:t>
            </a:r>
            <a:r>
              <a:rPr lang="en-US" sz="2000" dirty="0" err="1">
                <a:latin typeface="Gotham Rounded Book" pitchFamily="50" charset="0"/>
              </a:rPr>
              <a:t>daerah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perkotaan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menghadapi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berbagai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tantangan</a:t>
            </a:r>
            <a:r>
              <a:rPr lang="en-US" sz="2000" dirty="0">
                <a:latin typeface="Gotham Rounded Book" pitchFamily="50" charset="0"/>
              </a:rPr>
              <a:t> lingkungan </a:t>
            </a:r>
            <a:r>
              <a:rPr lang="en-US" sz="2000" dirty="0" err="1">
                <a:latin typeface="Gotham Rounded Book" pitchFamily="50" charset="0"/>
              </a:rPr>
              <a:t>dan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kesehatan</a:t>
            </a:r>
            <a:r>
              <a:rPr lang="en-US" sz="2000" dirty="0">
                <a:latin typeface="Gotham Rounded Book" pitchFamily="50" charset="0"/>
              </a:rPr>
              <a:t>. Pada </a:t>
            </a:r>
            <a:r>
              <a:rPr lang="en-US" sz="2000" dirty="0" err="1">
                <a:latin typeface="Gotham Rounded Book" pitchFamily="50" charset="0"/>
              </a:rPr>
              <a:t>tahun</a:t>
            </a:r>
            <a:r>
              <a:rPr lang="en-US" sz="2000" dirty="0">
                <a:latin typeface="Gotham Rounded Book" pitchFamily="50" charset="0"/>
              </a:rPr>
              <a:t> 2018, lebih </a:t>
            </a:r>
            <a:r>
              <a:rPr lang="en-US" sz="2000" dirty="0" err="1">
                <a:latin typeface="Gotham Rounded Book" pitchFamily="50" charset="0"/>
              </a:rPr>
              <a:t>dari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setengah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populasi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dunia</a:t>
            </a:r>
            <a:r>
              <a:rPr lang="en-US" sz="2000" dirty="0">
                <a:latin typeface="Gotham Rounded Book" pitchFamily="50" charset="0"/>
              </a:rPr>
              <a:t> tinggal di </a:t>
            </a:r>
            <a:r>
              <a:rPr lang="en-US" sz="2000" dirty="0" err="1">
                <a:latin typeface="Gotham Rounded Book" pitchFamily="50" charset="0"/>
              </a:rPr>
              <a:t>daerah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perkotaan</a:t>
            </a:r>
            <a:r>
              <a:rPr lang="en-US" sz="2000" dirty="0">
                <a:latin typeface="Gotham Rounded Book" pitchFamily="50" charset="0"/>
              </a:rPr>
              <a:t>, </a:t>
            </a:r>
            <a:r>
              <a:rPr lang="en-US" sz="2000" dirty="0" err="1">
                <a:latin typeface="Gotham Rounded Book" pitchFamily="50" charset="0"/>
              </a:rPr>
              <a:t>dan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proporsi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ini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diperkirakan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akan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meningkat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menjadi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hampir</a:t>
            </a:r>
            <a:r>
              <a:rPr lang="en-US" sz="2000" dirty="0">
                <a:latin typeface="Gotham Rounded Book" pitchFamily="50" charset="0"/>
              </a:rPr>
              <a:t> 70% </a:t>
            </a:r>
            <a:r>
              <a:rPr lang="en-US" sz="2000" dirty="0" err="1">
                <a:latin typeface="Gotham Rounded Book" pitchFamily="50" charset="0"/>
              </a:rPr>
              <a:t>pada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tahun</a:t>
            </a:r>
            <a:r>
              <a:rPr lang="en-US" sz="2000" dirty="0">
                <a:latin typeface="Gotham Rounded Book" pitchFamily="50" charset="0"/>
              </a:rPr>
              <a:t> 2050. Kecepatan </a:t>
            </a:r>
            <a:r>
              <a:rPr lang="en-US" sz="2000" dirty="0" err="1">
                <a:latin typeface="Gotham Rounded Book" pitchFamily="50" charset="0"/>
              </a:rPr>
              <a:t>cepat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urbanisasi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menempatkan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tekanan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pada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kota-kota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untuk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menyediakan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infrastruktur</a:t>
            </a:r>
            <a:r>
              <a:rPr lang="en-US" sz="2000" dirty="0">
                <a:latin typeface="Gotham Rounded Book" pitchFamily="50" charset="0"/>
              </a:rPr>
              <a:t> yang </a:t>
            </a:r>
            <a:r>
              <a:rPr lang="en-US" sz="2000" dirty="0" err="1">
                <a:latin typeface="Gotham Rounded Book" pitchFamily="50" charset="0"/>
              </a:rPr>
              <a:t>memadai</a:t>
            </a:r>
            <a:r>
              <a:rPr lang="en-US" sz="2000" dirty="0">
                <a:latin typeface="Gotham Rounded Book" pitchFamily="50" charset="0"/>
              </a:rPr>
              <a:t>, termasuk </a:t>
            </a:r>
            <a:r>
              <a:rPr lang="en-US" sz="2000" dirty="0" err="1">
                <a:latin typeface="Gotham Rounded Book" pitchFamily="50" charset="0"/>
              </a:rPr>
              <a:t>pengelolaan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limbah</a:t>
            </a:r>
            <a:r>
              <a:rPr lang="en-US" sz="2000" dirty="0">
                <a:latin typeface="Gotham Rounded Book" pitchFamily="50" charset="0"/>
              </a:rPr>
              <a:t>, </a:t>
            </a:r>
            <a:r>
              <a:rPr lang="en-US" sz="2000" dirty="0" err="1">
                <a:latin typeface="Gotham Rounded Book" pitchFamily="50" charset="0"/>
              </a:rPr>
              <a:t>ruang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hijau</a:t>
            </a:r>
            <a:r>
              <a:rPr lang="en-US" sz="2000" dirty="0">
                <a:latin typeface="Gotham Rounded Book" pitchFamily="50" charset="0"/>
              </a:rPr>
              <a:t>, </a:t>
            </a:r>
            <a:r>
              <a:rPr lang="en-US" sz="2000" dirty="0" err="1">
                <a:latin typeface="Gotham Rounded Book" pitchFamily="50" charset="0"/>
              </a:rPr>
              <a:t>dan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transportasi</a:t>
            </a:r>
            <a:r>
              <a:rPr lang="en-US" sz="2000" dirty="0">
                <a:latin typeface="Gotham Rounded Book" pitchFamily="50" charset="0"/>
              </a:rPr>
              <a:t> (</a:t>
            </a:r>
            <a:r>
              <a:rPr lang="en-US" sz="2000" dirty="0" err="1">
                <a:latin typeface="Gotham Rounded Book" pitchFamily="50" charset="0"/>
              </a:rPr>
              <a:t>Siregar</a:t>
            </a:r>
            <a:r>
              <a:rPr lang="en-US" sz="2000" dirty="0">
                <a:latin typeface="Gotham Rounded Book" pitchFamily="50" charset="0"/>
              </a:rPr>
              <a:t>, B., &amp; </a:t>
            </a:r>
            <a:r>
              <a:rPr lang="en-US" sz="2000" dirty="0" err="1">
                <a:latin typeface="Gotham Rounded Book" pitchFamily="50" charset="0"/>
              </a:rPr>
              <a:t>Kusuma</a:t>
            </a:r>
            <a:r>
              <a:rPr lang="en-US" sz="2000" dirty="0">
                <a:latin typeface="Gotham Rounded Book" pitchFamily="50" charset="0"/>
              </a:rPr>
              <a:t>, A. 2023</a:t>
            </a:r>
            <a:r>
              <a:rPr lang="en-US" sz="2000" dirty="0" smtClean="0">
                <a:latin typeface="Gotham Rounded Book" pitchFamily="50" charset="0"/>
              </a:rPr>
              <a:t>). </a:t>
            </a:r>
            <a:endParaRPr lang="en-US" sz="2000" dirty="0">
              <a:latin typeface="Gotham Rounded Book" pitchFamily="50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85F5CD2F-AB9D-DD63-3C38-EA0C7E4265AC}"/>
              </a:ext>
            </a:extLst>
          </p:cNvPr>
          <p:cNvSpPr txBox="1"/>
          <p:nvPr/>
        </p:nvSpPr>
        <p:spPr>
          <a:xfrm>
            <a:off x="5266106" y="3230186"/>
            <a:ext cx="56425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274638"/>
            <a:r>
              <a:rPr lang="en-US" sz="2000" dirty="0" smtClean="0">
                <a:latin typeface="Gotham Rounded Book" pitchFamily="50" charset="0"/>
              </a:rPr>
              <a:t>	</a:t>
            </a:r>
            <a:r>
              <a:rPr lang="en-US" sz="2000" dirty="0" err="1" smtClean="0">
                <a:latin typeface="Gotham Rounded Book" pitchFamily="50" charset="0"/>
              </a:rPr>
              <a:t>Melalui</a:t>
            </a:r>
            <a:r>
              <a:rPr lang="en-US" sz="2000" dirty="0" smtClean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pengembangan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teknologi</a:t>
            </a:r>
            <a:r>
              <a:rPr lang="en-US" sz="2000" dirty="0">
                <a:latin typeface="Gotham Rounded Book" pitchFamily="50" charset="0"/>
              </a:rPr>
              <a:t> sensor, </a:t>
            </a:r>
            <a:r>
              <a:rPr lang="en-US" sz="2000" dirty="0" err="1">
                <a:latin typeface="Gotham Rounded Book" pitchFamily="50" charset="0"/>
              </a:rPr>
              <a:t>metode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pengukuran</a:t>
            </a:r>
            <a:r>
              <a:rPr lang="en-US" sz="2000" dirty="0">
                <a:latin typeface="Gotham Rounded Book" pitchFamily="50" charset="0"/>
              </a:rPr>
              <a:t> yang lebih </a:t>
            </a:r>
            <a:r>
              <a:rPr lang="en-US" sz="2000" dirty="0" err="1">
                <a:latin typeface="Gotham Rounded Book" pitchFamily="50" charset="0"/>
              </a:rPr>
              <a:t>canggih</a:t>
            </a:r>
            <a:r>
              <a:rPr lang="en-US" sz="2000" dirty="0">
                <a:latin typeface="Gotham Rounded Book" pitchFamily="50" charset="0"/>
              </a:rPr>
              <a:t>, </a:t>
            </a:r>
            <a:r>
              <a:rPr lang="en-US" sz="2000" dirty="0" err="1">
                <a:latin typeface="Gotham Rounded Book" pitchFamily="50" charset="0"/>
              </a:rPr>
              <a:t>dan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perangkat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lunak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analisis</a:t>
            </a:r>
            <a:r>
              <a:rPr lang="en-US" sz="2000" dirty="0">
                <a:latin typeface="Gotham Rounded Book" pitchFamily="50" charset="0"/>
              </a:rPr>
              <a:t> data yang </a:t>
            </a:r>
            <a:r>
              <a:rPr lang="en-US" sz="2000" dirty="0" err="1">
                <a:latin typeface="Gotham Rounded Book" pitchFamily="50" charset="0"/>
              </a:rPr>
              <a:t>inovatif</a:t>
            </a:r>
            <a:r>
              <a:rPr lang="en-US" sz="2000" dirty="0">
                <a:latin typeface="Gotham Rounded Book" pitchFamily="50" charset="0"/>
              </a:rPr>
              <a:t>, </a:t>
            </a:r>
            <a:r>
              <a:rPr lang="en-US" sz="2000" dirty="0" err="1">
                <a:latin typeface="Gotham Rounded Book" pitchFamily="50" charset="0"/>
              </a:rPr>
              <a:t>upaya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telah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dilakukan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untuk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menciptakan</a:t>
            </a:r>
            <a:r>
              <a:rPr lang="en-US" sz="2000" dirty="0">
                <a:latin typeface="Gotham Rounded Book" pitchFamily="50" charset="0"/>
              </a:rPr>
              <a:t> alat </a:t>
            </a:r>
            <a:r>
              <a:rPr lang="en-US" sz="2000" dirty="0" err="1">
                <a:latin typeface="Gotham Rounded Book" pitchFamily="50" charset="0"/>
              </a:rPr>
              <a:t>uji</a:t>
            </a:r>
            <a:r>
              <a:rPr lang="en-US" sz="2000" dirty="0">
                <a:latin typeface="Gotham Rounded Book" pitchFamily="50" charset="0"/>
              </a:rPr>
              <a:t> yang lebih </a:t>
            </a:r>
            <a:r>
              <a:rPr lang="en-US" sz="2000" dirty="0" err="1">
                <a:latin typeface="Gotham Rounded Book" pitchFamily="50" charset="0"/>
              </a:rPr>
              <a:t>dapat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diandalkan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dan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akurat</a:t>
            </a:r>
            <a:r>
              <a:rPr lang="en-US" sz="2000" dirty="0">
                <a:latin typeface="Gotham Rounded Book" pitchFamily="50" charset="0"/>
              </a:rPr>
              <a:t>. </a:t>
            </a:r>
            <a:r>
              <a:rPr lang="en-US" sz="2000" dirty="0" err="1">
                <a:latin typeface="Gotham Rounded Book" pitchFamily="50" charset="0"/>
              </a:rPr>
              <a:t>Berdasarkan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permasalahan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tersebut</a:t>
            </a:r>
            <a:r>
              <a:rPr lang="en-US" sz="2000" dirty="0">
                <a:latin typeface="Gotham Rounded Book" pitchFamily="50" charset="0"/>
              </a:rPr>
              <a:t>, </a:t>
            </a:r>
            <a:r>
              <a:rPr lang="en-US" sz="2000" dirty="0" err="1">
                <a:latin typeface="Gotham Rounded Book" pitchFamily="50" charset="0"/>
              </a:rPr>
              <a:t>peneliti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tertarik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merancang</a:t>
            </a:r>
            <a:r>
              <a:rPr lang="en-US" sz="2000" dirty="0">
                <a:latin typeface="Gotham Rounded Book" pitchFamily="50" charset="0"/>
              </a:rPr>
              <a:t> alat </a:t>
            </a:r>
            <a:r>
              <a:rPr lang="en-US" sz="2000" dirty="0" err="1">
                <a:latin typeface="Gotham Rounded Book" pitchFamily="50" charset="0"/>
              </a:rPr>
              <a:t>uji</a:t>
            </a:r>
            <a:r>
              <a:rPr lang="en-US" sz="2000" dirty="0">
                <a:latin typeface="Gotham Rounded Book" pitchFamily="50" charset="0"/>
              </a:rPr>
              <a:t> emisi gas </a:t>
            </a:r>
            <a:r>
              <a:rPr lang="en-US" sz="2000" dirty="0" err="1">
                <a:latin typeface="Gotham Rounded Book" pitchFamily="50" charset="0"/>
              </a:rPr>
              <a:t>buang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kendaraan</a:t>
            </a:r>
            <a:r>
              <a:rPr lang="en-US" sz="2000" dirty="0">
                <a:latin typeface="Gotham Rounded Book" pitchFamily="50" charset="0"/>
              </a:rPr>
              <a:t> dengan menggunakan </a:t>
            </a:r>
            <a:r>
              <a:rPr lang="en-US" sz="2000" dirty="0" err="1">
                <a:latin typeface="Gotham Rounded Book" pitchFamily="50" charset="0"/>
              </a:rPr>
              <a:t>metode</a:t>
            </a:r>
            <a:r>
              <a:rPr lang="en-US" sz="2000" dirty="0">
                <a:latin typeface="Gotham Rounded Book" pitchFamily="50" charset="0"/>
              </a:rPr>
              <a:t> fuzzy </a:t>
            </a:r>
            <a:r>
              <a:rPr lang="en-US" sz="2000" dirty="0" err="1">
                <a:latin typeface="Gotham Rounded Book" pitchFamily="50" charset="0"/>
              </a:rPr>
              <a:t>mamdani</a:t>
            </a:r>
            <a:r>
              <a:rPr lang="en-US" sz="2000" dirty="0">
                <a:latin typeface="Gotham Rounded Book" pitchFamily="50" charset="0"/>
              </a:rPr>
              <a:t>, yang lebih </a:t>
            </a:r>
            <a:r>
              <a:rPr lang="en-US" sz="2000" dirty="0" err="1">
                <a:latin typeface="Gotham Rounded Book" pitchFamily="50" charset="0"/>
              </a:rPr>
              <a:t>hemat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dan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mudah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dibawa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kemana</a:t>
            </a:r>
            <a:r>
              <a:rPr lang="en-US" sz="2000" dirty="0">
                <a:latin typeface="Gotham Rounded Book" pitchFamily="50" charset="0"/>
              </a:rPr>
              <a:t>-mana </a:t>
            </a:r>
            <a:r>
              <a:rPr lang="en-US" sz="2000" dirty="0" err="1">
                <a:latin typeface="Gotham Rounded Book" pitchFamily="50" charset="0"/>
              </a:rPr>
              <a:t>atau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portabel</a:t>
            </a:r>
            <a:r>
              <a:rPr lang="en-US" sz="2000" dirty="0">
                <a:latin typeface="Gotham Rounded Book" pitchFamily="50" charset="0"/>
              </a:rPr>
              <a:t>, dengan output </a:t>
            </a:r>
            <a:r>
              <a:rPr lang="en-US" sz="2000" dirty="0" err="1">
                <a:latin typeface="Gotham Rounded Book" pitchFamily="50" charset="0"/>
              </a:rPr>
              <a:t>pengukuran</a:t>
            </a:r>
            <a:r>
              <a:rPr lang="en-US" sz="2000" dirty="0">
                <a:latin typeface="Gotham Rounded Book" pitchFamily="50" charset="0"/>
              </a:rPr>
              <a:t> gas </a:t>
            </a:r>
            <a:r>
              <a:rPr lang="en-US" sz="2000" dirty="0" err="1">
                <a:latin typeface="Gotham Rounded Book" pitchFamily="50" charset="0"/>
              </a:rPr>
              <a:t>karbon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monoksida</a:t>
            </a:r>
            <a:r>
              <a:rPr lang="en-US" sz="2000" dirty="0">
                <a:latin typeface="Gotham Rounded Book" pitchFamily="50" charset="0"/>
              </a:rPr>
              <a:t> (CO), </a:t>
            </a:r>
            <a:r>
              <a:rPr lang="en-US" sz="2000" dirty="0" err="1">
                <a:latin typeface="Gotham Rounded Book" pitchFamily="50" charset="0"/>
              </a:rPr>
              <a:t>dan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hidrokarbon</a:t>
            </a:r>
            <a:r>
              <a:rPr lang="en-US" sz="2000" dirty="0">
                <a:latin typeface="Gotham Rounded Book" pitchFamily="50" charset="0"/>
              </a:rPr>
              <a:t> (HC). </a:t>
            </a:r>
            <a:r>
              <a:rPr lang="en-US" sz="2000" dirty="0" err="1">
                <a:latin typeface="Gotham Rounded Book" pitchFamily="50" charset="0"/>
              </a:rPr>
              <a:t>Berbasis</a:t>
            </a:r>
            <a:r>
              <a:rPr lang="en-US" sz="2000" dirty="0">
                <a:latin typeface="Gotham Rounded Book" pitchFamily="50" charset="0"/>
              </a:rPr>
              <a:t> Internet of Things dengan menggunakan </a:t>
            </a:r>
            <a:r>
              <a:rPr lang="en-US" sz="2000" dirty="0" err="1">
                <a:latin typeface="Gotham Rounded Book" pitchFamily="50" charset="0"/>
              </a:rPr>
              <a:t>aplikasi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 smtClean="0">
                <a:latin typeface="Gotham Rounded Book" pitchFamily="50" charset="0"/>
              </a:rPr>
              <a:t>Blynk</a:t>
            </a:r>
            <a:r>
              <a:rPr lang="en-US" sz="2000" dirty="0" smtClean="0">
                <a:latin typeface="Gotham Rounded Book" pitchFamily="50" charset="0"/>
              </a:rPr>
              <a:t>. </a:t>
            </a:r>
            <a:endParaRPr lang="en-US" sz="2000" dirty="0">
              <a:latin typeface="Gotham Rounded Book" pitchFamily="50" charset="0"/>
            </a:endParaRPr>
          </a:p>
        </p:txBody>
      </p:sp>
      <p:pic>
        <p:nvPicPr>
          <p:cNvPr id="41" name="Graphic 40" descr="Home with solid fill">
            <a:hlinkClick r:id="rId7" action="ppaction://hlinksldjump"/>
            <a:extLst>
              <a:ext uri="{FF2B5EF4-FFF2-40B4-BE49-F238E27FC236}">
                <a16:creationId xmlns="" xmlns:a16="http://schemas.microsoft.com/office/drawing/2014/main" id="{F0D60671-C3B0-CBAF-A905-015563E2E55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02262" y="5614750"/>
            <a:ext cx="553434" cy="55343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2995A170-ECAD-2341-0DC4-3D4EE232CC86}"/>
              </a:ext>
            </a:extLst>
          </p:cNvPr>
          <p:cNvSpPr txBox="1"/>
          <p:nvPr/>
        </p:nvSpPr>
        <p:spPr>
          <a:xfrm>
            <a:off x="1973474" y="814904"/>
            <a:ext cx="14827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Gotham Rounded Medium" panose="02000000000000000000" pitchFamily="50" charset="0"/>
              </a:rPr>
              <a:t>BAB I</a:t>
            </a:r>
            <a:endParaRPr lang="en-ID" sz="3200" dirty="0">
              <a:solidFill>
                <a:schemeClr val="bg2">
                  <a:lumMod val="75000"/>
                </a:schemeClr>
              </a:solidFill>
              <a:latin typeface="Gotham Rounded Medium" panose="02000000000000000000" pitchFamily="50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AFE6A7F0-3254-67A2-3E1A-8D18F7DFA0C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864199" y="562186"/>
            <a:ext cx="976234" cy="83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3847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2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=""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51308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5DE30507-4D03-75AA-8664-CF999B6F7C76}"/>
              </a:ext>
            </a:extLst>
          </p:cNvPr>
          <p:cNvSpPr txBox="1"/>
          <p:nvPr/>
        </p:nvSpPr>
        <p:spPr>
          <a:xfrm>
            <a:off x="1903911" y="2387390"/>
            <a:ext cx="40969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 smtClean="0">
                <a:latin typeface="Gotham Rounded Book" pitchFamily="50" charset="0"/>
              </a:rPr>
              <a:t>Bagaimana</a:t>
            </a:r>
            <a:r>
              <a:rPr lang="en-US" sz="2000" dirty="0" smtClean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merancang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sistem</a:t>
            </a:r>
            <a:r>
              <a:rPr lang="en-US" sz="2000" dirty="0">
                <a:latin typeface="Gotham Rounded Book" pitchFamily="50" charset="0"/>
              </a:rPr>
              <a:t> monitoring emisi gas </a:t>
            </a:r>
            <a:r>
              <a:rPr lang="en-US" sz="2000" dirty="0" err="1">
                <a:latin typeface="Gotham Rounded Book" pitchFamily="50" charset="0"/>
              </a:rPr>
              <a:t>buang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kendaraan</a:t>
            </a:r>
            <a:r>
              <a:rPr lang="en-US" sz="2000" dirty="0">
                <a:latin typeface="Gotham Rounded Book" pitchFamily="50" charset="0"/>
              </a:rPr>
              <a:t> yang </a:t>
            </a:r>
            <a:r>
              <a:rPr lang="en-US" sz="2000" dirty="0" err="1">
                <a:latin typeface="Gotham Rounded Book" pitchFamily="50" charset="0"/>
              </a:rPr>
              <a:t>portabel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dan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dapat</a:t>
            </a:r>
            <a:r>
              <a:rPr lang="en-US" sz="2000" dirty="0">
                <a:latin typeface="Gotham Rounded Book" pitchFamily="50" charset="0"/>
              </a:rPr>
              <a:t> mengukur emisi gas </a:t>
            </a:r>
            <a:r>
              <a:rPr lang="en-US" sz="2000" dirty="0" err="1">
                <a:latin typeface="Gotham Rounded Book" pitchFamily="50" charset="0"/>
              </a:rPr>
              <a:t>buang</a:t>
            </a:r>
            <a:r>
              <a:rPr lang="en-US" sz="2000" dirty="0">
                <a:latin typeface="Gotham Rounded Book" pitchFamily="50" charset="0"/>
              </a:rPr>
              <a:t> dengan </a:t>
            </a:r>
            <a:r>
              <a:rPr lang="en-US" sz="2000" dirty="0" err="1">
                <a:latin typeface="Gotham Rounded Book" pitchFamily="50" charset="0"/>
              </a:rPr>
              <a:t>efisien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dan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akurat</a:t>
            </a:r>
            <a:r>
              <a:rPr lang="en-US" sz="2000" dirty="0">
                <a:latin typeface="Gotham Rounded Book" pitchFamily="50" charset="0"/>
              </a:rPr>
              <a:t>. </a:t>
            </a:r>
          </a:p>
        </p:txBody>
      </p:sp>
      <p:pic>
        <p:nvPicPr>
          <p:cNvPr id="41" name="Graphic 40" descr="Home with solid fill">
            <a:hlinkClick r:id="rId2" action="ppaction://hlinksldjump"/>
            <a:extLst>
              <a:ext uri="{FF2B5EF4-FFF2-40B4-BE49-F238E27FC236}">
                <a16:creationId xmlns="" xmlns:a16="http://schemas.microsoft.com/office/drawing/2014/main" id="{F0D60671-C3B0-CBAF-A905-015563E2E5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2262" y="5614750"/>
            <a:ext cx="553434" cy="5534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BB657584-BDD1-F9CF-6B69-70923DBBD3D0}"/>
              </a:ext>
            </a:extLst>
          </p:cNvPr>
          <p:cNvSpPr txBox="1"/>
          <p:nvPr/>
        </p:nvSpPr>
        <p:spPr>
          <a:xfrm>
            <a:off x="1236931" y="1348328"/>
            <a:ext cx="4751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Rumusan</a:t>
            </a:r>
            <a:r>
              <a:rPr lang="en-US" sz="36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 </a:t>
            </a:r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Masalah</a:t>
            </a:r>
            <a:endParaRPr lang="en-ID" sz="36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="" xmlns:a16="http://schemas.microsoft.com/office/drawing/2014/main" id="{04EF7221-405B-B542-6810-4F924278D3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056203" y="1579573"/>
            <a:ext cx="7060094" cy="3673454"/>
          </a:xfrm>
          <a:prstGeom prst="rect">
            <a:avLst/>
          </a:prstGeom>
          <a:noFill/>
        </p:spPr>
      </p:pic>
      <p:sp>
        <p:nvSpPr>
          <p:cNvPr id="24" name="Oval 23">
            <a:extLst>
              <a:ext uri="{FF2B5EF4-FFF2-40B4-BE49-F238E27FC236}">
                <a16:creationId xmlns="" xmlns:a16="http://schemas.microsoft.com/office/drawing/2014/main" id="{67301936-4586-B3DE-0684-1240616C5FCD}"/>
              </a:ext>
            </a:extLst>
          </p:cNvPr>
          <p:cNvSpPr/>
          <p:nvPr/>
        </p:nvSpPr>
        <p:spPr>
          <a:xfrm>
            <a:off x="1308598" y="2327580"/>
            <a:ext cx="551839" cy="551839"/>
          </a:xfrm>
          <a:prstGeom prst="ellipse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Gotham Rounded Book" pitchFamily="50" charset="0"/>
              </a:rPr>
              <a:t>1</a:t>
            </a:r>
            <a:endParaRPr lang="en-ID" b="1" dirty="0">
              <a:latin typeface="Gotham Rounded Book" pitchFamily="50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3191184A-C49E-7D89-A59C-B6A7072BF3CC}"/>
              </a:ext>
            </a:extLst>
          </p:cNvPr>
          <p:cNvSpPr txBox="1"/>
          <p:nvPr/>
        </p:nvSpPr>
        <p:spPr>
          <a:xfrm>
            <a:off x="1903911" y="3839559"/>
            <a:ext cx="40969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latin typeface="Gotham Rounded Book" pitchFamily="50" charset="0"/>
              </a:rPr>
              <a:t>Alat </a:t>
            </a:r>
            <a:r>
              <a:rPr lang="en-US" sz="2000" dirty="0" err="1">
                <a:latin typeface="Gotham Rounded Book" pitchFamily="50" charset="0"/>
              </a:rPr>
              <a:t>uji</a:t>
            </a:r>
            <a:r>
              <a:rPr lang="en-US" sz="2000" dirty="0">
                <a:latin typeface="Gotham Rounded Book" pitchFamily="50" charset="0"/>
              </a:rPr>
              <a:t> emisi yang </a:t>
            </a:r>
            <a:r>
              <a:rPr lang="en-US" sz="2000" dirty="0" err="1">
                <a:latin typeface="Gotham Rounded Book" pitchFamily="50" charset="0"/>
              </a:rPr>
              <a:t>ada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saat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masih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sulit</a:t>
            </a:r>
            <a:r>
              <a:rPr lang="en-US" sz="2000" dirty="0">
                <a:latin typeface="Gotham Rounded Book" pitchFamily="50" charset="0"/>
              </a:rPr>
              <a:t> di </a:t>
            </a:r>
            <a:r>
              <a:rPr lang="en-US" sz="2000" dirty="0" err="1">
                <a:latin typeface="Gotham Rounded Book" pitchFamily="50" charset="0"/>
              </a:rPr>
              <a:t>dapatkan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dan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harga</a:t>
            </a:r>
            <a:r>
              <a:rPr lang="en-US" sz="2000" dirty="0">
                <a:latin typeface="Gotham Rounded Book" pitchFamily="50" charset="0"/>
              </a:rPr>
              <a:t> yang harus </a:t>
            </a:r>
            <a:r>
              <a:rPr lang="en-US" sz="2000" dirty="0" err="1">
                <a:latin typeface="Gotham Rounded Book" pitchFamily="50" charset="0"/>
              </a:rPr>
              <a:t>dibayarkan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untuk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mendapatkan</a:t>
            </a:r>
            <a:r>
              <a:rPr lang="en-US" sz="2000" dirty="0">
                <a:latin typeface="Gotham Rounded Book" pitchFamily="50" charset="0"/>
              </a:rPr>
              <a:t> alat </a:t>
            </a:r>
            <a:r>
              <a:rPr lang="en-US" sz="2000" dirty="0" err="1">
                <a:latin typeface="Gotham Rounded Book" pitchFamily="50" charset="0"/>
              </a:rPr>
              <a:t>cukup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tinggi</a:t>
            </a:r>
            <a:r>
              <a:rPr lang="en-US" sz="2000" dirty="0">
                <a:latin typeface="Gotham Rounded Book" pitchFamily="50" charset="0"/>
              </a:rPr>
              <a:t>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="" xmlns:a16="http://schemas.microsoft.com/office/drawing/2014/main" id="{9FFBE85F-5630-A384-E8B1-F54BD98C072E}"/>
              </a:ext>
            </a:extLst>
          </p:cNvPr>
          <p:cNvSpPr/>
          <p:nvPr/>
        </p:nvSpPr>
        <p:spPr>
          <a:xfrm>
            <a:off x="1308597" y="3742522"/>
            <a:ext cx="551839" cy="551839"/>
          </a:xfrm>
          <a:prstGeom prst="ellipse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Gotham Rounded Book" pitchFamily="50" charset="0"/>
              </a:rPr>
              <a:t>2</a:t>
            </a:r>
            <a:endParaRPr lang="en-ID" b="1" dirty="0">
              <a:latin typeface="Gotham Rounded Book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BAFA9905-6BD1-6267-9359-ACB542CEB0C9}"/>
              </a:ext>
            </a:extLst>
          </p:cNvPr>
          <p:cNvSpPr txBox="1"/>
          <p:nvPr/>
        </p:nvSpPr>
        <p:spPr>
          <a:xfrm>
            <a:off x="1283338" y="814904"/>
            <a:ext cx="14827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Gotham Rounded Medium" panose="02000000000000000000" pitchFamily="50" charset="0"/>
              </a:rPr>
              <a:t>BAB I</a:t>
            </a:r>
            <a:endParaRPr lang="en-ID" sz="3200" dirty="0">
              <a:solidFill>
                <a:schemeClr val="bg2">
                  <a:lumMod val="75000"/>
                </a:schemeClr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696986F6-5608-5A35-3FF3-B3FDA94F1510}"/>
              </a:ext>
            </a:extLst>
          </p:cNvPr>
          <p:cNvSpPr txBox="1"/>
          <p:nvPr/>
        </p:nvSpPr>
        <p:spPr>
          <a:xfrm>
            <a:off x="1236932" y="5689478"/>
            <a:ext cx="824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otham Rounded Book" pitchFamily="50" charset="0"/>
              </a:rPr>
              <a:t>Page</a:t>
            </a:r>
            <a:endParaRPr lang="en-ID" sz="2000" dirty="0">
              <a:latin typeface="Gotham Rounded Book" pitchFamily="50" charset="0"/>
            </a:endParaRPr>
          </a:p>
        </p:txBody>
      </p:sp>
      <p:sp>
        <p:nvSpPr>
          <p:cNvPr id="11" name="TextBox 10">
            <a:hlinkClick r:id="rId6" action="ppaction://hlinksldjump"/>
            <a:extLst>
              <a:ext uri="{FF2B5EF4-FFF2-40B4-BE49-F238E27FC236}">
                <a16:creationId xmlns="" xmlns:a16="http://schemas.microsoft.com/office/drawing/2014/main" id="{FD76D1A3-69E5-E2A6-3669-D111B71AF7EE}"/>
              </a:ext>
            </a:extLst>
          </p:cNvPr>
          <p:cNvSpPr txBox="1"/>
          <p:nvPr/>
        </p:nvSpPr>
        <p:spPr>
          <a:xfrm>
            <a:off x="2037925" y="5689478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1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12" name="TextBox 11">
            <a:hlinkClick r:id="rId7" action="ppaction://hlinksldjump"/>
            <a:extLst>
              <a:ext uri="{FF2B5EF4-FFF2-40B4-BE49-F238E27FC236}">
                <a16:creationId xmlns="" xmlns:a16="http://schemas.microsoft.com/office/drawing/2014/main" id="{8D1D3FCA-C8BC-DAD1-F2A9-F6EC6ADAA620}"/>
              </a:ext>
            </a:extLst>
          </p:cNvPr>
          <p:cNvSpPr txBox="1"/>
          <p:nvPr/>
        </p:nvSpPr>
        <p:spPr>
          <a:xfrm>
            <a:off x="2339611" y="5702178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25464"/>
                </a:solidFill>
                <a:latin typeface="Gotham Rounded Bold" pitchFamily="50" charset="0"/>
              </a:rPr>
              <a:t>2</a:t>
            </a:r>
            <a:endParaRPr lang="en-ID" sz="2000" dirty="0">
              <a:solidFill>
                <a:srgbClr val="025464"/>
              </a:solidFill>
              <a:latin typeface="Gotham Rounded Bold" pitchFamily="50" charset="0"/>
            </a:endParaRPr>
          </a:p>
        </p:txBody>
      </p:sp>
      <p:sp>
        <p:nvSpPr>
          <p:cNvPr id="13" name="TextBox 12">
            <a:hlinkClick r:id="rId8" action="ppaction://hlinksldjump"/>
            <a:extLst>
              <a:ext uri="{FF2B5EF4-FFF2-40B4-BE49-F238E27FC236}">
                <a16:creationId xmlns="" xmlns:a16="http://schemas.microsoft.com/office/drawing/2014/main" id="{8A323F45-4258-2A96-DA26-EDFF7A976A8A}"/>
              </a:ext>
            </a:extLst>
          </p:cNvPr>
          <p:cNvSpPr txBox="1"/>
          <p:nvPr/>
        </p:nvSpPr>
        <p:spPr>
          <a:xfrm>
            <a:off x="2669380" y="570217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3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14" name="TextBox 13">
            <a:hlinkClick r:id="rId9" action="ppaction://hlinksldjump"/>
            <a:extLst>
              <a:ext uri="{FF2B5EF4-FFF2-40B4-BE49-F238E27FC236}">
                <a16:creationId xmlns="" xmlns:a16="http://schemas.microsoft.com/office/drawing/2014/main" id="{466AE00B-4C7C-A755-C5B7-11A28F20F6F4}"/>
              </a:ext>
            </a:extLst>
          </p:cNvPr>
          <p:cNvSpPr txBox="1"/>
          <p:nvPr/>
        </p:nvSpPr>
        <p:spPr>
          <a:xfrm>
            <a:off x="2999149" y="5702178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4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AFE6A7F0-3254-67A2-3E1A-8D18F7DFA0C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0290862" y="688544"/>
            <a:ext cx="976234" cy="83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3867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2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=""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pic>
        <p:nvPicPr>
          <p:cNvPr id="41" name="Graphic 40" descr="Home with solid fill">
            <a:hlinkClick r:id="rId2" action="ppaction://hlinksldjump"/>
            <a:extLst>
              <a:ext uri="{FF2B5EF4-FFF2-40B4-BE49-F238E27FC236}">
                <a16:creationId xmlns="" xmlns:a16="http://schemas.microsoft.com/office/drawing/2014/main" id="{F0D60671-C3B0-CBAF-A905-015563E2E5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2262" y="5614750"/>
            <a:ext cx="553434" cy="5534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E4294DFB-9380-15A9-077A-21951417815A}"/>
              </a:ext>
            </a:extLst>
          </p:cNvPr>
          <p:cNvSpPr txBox="1"/>
          <p:nvPr/>
        </p:nvSpPr>
        <p:spPr>
          <a:xfrm>
            <a:off x="1236932" y="1325063"/>
            <a:ext cx="4591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Tujuan</a:t>
            </a:r>
            <a:r>
              <a:rPr lang="en-US" sz="36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 </a:t>
            </a:r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Penelitian</a:t>
            </a:r>
            <a:endParaRPr lang="en-ID" sz="36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="" xmlns:a16="http://schemas.microsoft.com/office/drawing/2014/main" id="{81501304-AC0C-98D3-238F-7AF6E9A959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23" y="1571837"/>
            <a:ext cx="4117641" cy="41176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C355AA8C-B902-931B-5B85-ED3A821F70F5}"/>
              </a:ext>
            </a:extLst>
          </p:cNvPr>
          <p:cNvSpPr txBox="1"/>
          <p:nvPr/>
        </p:nvSpPr>
        <p:spPr>
          <a:xfrm>
            <a:off x="6958786" y="1612954"/>
            <a:ext cx="40969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 smtClean="0">
                <a:latin typeface="Gotham Rounded Book" pitchFamily="50" charset="0"/>
              </a:rPr>
              <a:t>Merancang</a:t>
            </a:r>
            <a:r>
              <a:rPr lang="en-US" sz="2000" dirty="0" smtClean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sistem</a:t>
            </a:r>
            <a:r>
              <a:rPr lang="en-US" sz="2000" dirty="0">
                <a:latin typeface="Gotham Rounded Book" pitchFamily="50" charset="0"/>
              </a:rPr>
              <a:t> monitoring </a:t>
            </a:r>
            <a:r>
              <a:rPr lang="en-US" sz="2000" dirty="0" err="1">
                <a:latin typeface="Gotham Rounded Book" pitchFamily="50" charset="0"/>
              </a:rPr>
              <a:t>uji</a:t>
            </a:r>
            <a:r>
              <a:rPr lang="en-US" sz="2000" dirty="0">
                <a:latin typeface="Gotham Rounded Book" pitchFamily="50" charset="0"/>
              </a:rPr>
              <a:t> emisi gas </a:t>
            </a:r>
            <a:r>
              <a:rPr lang="en-US" sz="2000" dirty="0" err="1">
                <a:latin typeface="Gotham Rounded Book" pitchFamily="50" charset="0"/>
              </a:rPr>
              <a:t>buang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kendaraan</a:t>
            </a:r>
            <a:r>
              <a:rPr lang="en-US" sz="2000" dirty="0">
                <a:latin typeface="Gotham Rounded Book" pitchFamily="50" charset="0"/>
              </a:rPr>
              <a:t> yang </a:t>
            </a:r>
            <a:r>
              <a:rPr lang="en-US" sz="2000" dirty="0" err="1">
                <a:latin typeface="Gotham Rounded Book" pitchFamily="50" charset="0"/>
              </a:rPr>
              <a:t>portabel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dan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mampu</a:t>
            </a:r>
            <a:r>
              <a:rPr lang="en-US" sz="2000" dirty="0">
                <a:latin typeface="Gotham Rounded Book" pitchFamily="50" charset="0"/>
              </a:rPr>
              <a:t> mengukur secara </a:t>
            </a:r>
            <a:r>
              <a:rPr lang="en-US" sz="2000" dirty="0" err="1">
                <a:latin typeface="Gotham Rounded Book" pitchFamily="50" charset="0"/>
              </a:rPr>
              <a:t>akurat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dan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efisien</a:t>
            </a:r>
            <a:r>
              <a:rPr lang="en-US" sz="2000" dirty="0">
                <a:latin typeface="Gotham Rounded Book" pitchFamily="50" charset="0"/>
              </a:rPr>
              <a:t> dengan </a:t>
            </a:r>
            <a:r>
              <a:rPr lang="en-US" sz="2000" dirty="0" err="1">
                <a:latin typeface="Gotham Rounded Book" pitchFamily="50" charset="0"/>
              </a:rPr>
              <a:t>metode</a:t>
            </a:r>
            <a:r>
              <a:rPr lang="en-US" sz="2000" dirty="0">
                <a:latin typeface="Gotham Rounded Book" pitchFamily="50" charset="0"/>
              </a:rPr>
              <a:t> fuzzy logic </a:t>
            </a:r>
            <a:r>
              <a:rPr lang="en-US" sz="2000" dirty="0" err="1">
                <a:latin typeface="Gotham Rounded Book" pitchFamily="50" charset="0"/>
              </a:rPr>
              <a:t>dan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terintegrasi</a:t>
            </a:r>
            <a:r>
              <a:rPr lang="en-US" sz="2000" dirty="0">
                <a:latin typeface="Gotham Rounded Book" pitchFamily="50" charset="0"/>
              </a:rPr>
              <a:t> dengan </a:t>
            </a:r>
            <a:r>
              <a:rPr lang="en-US" sz="2000" dirty="0" err="1">
                <a:latin typeface="Gotham Rounded Book" pitchFamily="50" charset="0"/>
              </a:rPr>
              <a:t>aplikasi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Blynk</a:t>
            </a:r>
            <a:r>
              <a:rPr lang="en-US" sz="2000" dirty="0">
                <a:latin typeface="Gotham Rounded Book" pitchFamily="50" charset="0"/>
              </a:rPr>
              <a:t>. </a:t>
            </a:r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646853FE-10CC-AF7E-58D8-899C08419853}"/>
              </a:ext>
            </a:extLst>
          </p:cNvPr>
          <p:cNvSpPr/>
          <p:nvPr/>
        </p:nvSpPr>
        <p:spPr>
          <a:xfrm>
            <a:off x="6363473" y="1553144"/>
            <a:ext cx="551839" cy="551839"/>
          </a:xfrm>
          <a:prstGeom prst="ellipse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Gotham Rounded Book" pitchFamily="50" charset="0"/>
              </a:rPr>
              <a:t>1</a:t>
            </a:r>
            <a:endParaRPr lang="en-ID" b="1" dirty="0">
              <a:latin typeface="Gotham Rounded Book" pitchFamily="50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AD22C337-451A-2A7D-4DB7-50026735FA35}"/>
              </a:ext>
            </a:extLst>
          </p:cNvPr>
          <p:cNvSpPr txBox="1"/>
          <p:nvPr/>
        </p:nvSpPr>
        <p:spPr>
          <a:xfrm>
            <a:off x="6958786" y="3747491"/>
            <a:ext cx="40969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 smtClean="0">
                <a:latin typeface="Gotham Rounded Book" pitchFamily="50" charset="0"/>
              </a:rPr>
              <a:t>Merancang</a:t>
            </a:r>
            <a:r>
              <a:rPr lang="en-US" sz="2000" dirty="0" smtClean="0">
                <a:latin typeface="Gotham Rounded Book" pitchFamily="50" charset="0"/>
              </a:rPr>
              <a:t> </a:t>
            </a:r>
            <a:r>
              <a:rPr lang="en-US" sz="2000" dirty="0">
                <a:latin typeface="Gotham Rounded Book" pitchFamily="50" charset="0"/>
              </a:rPr>
              <a:t>alat </a:t>
            </a:r>
            <a:r>
              <a:rPr lang="en-US" sz="2000" dirty="0" err="1">
                <a:latin typeface="Gotham Rounded Book" pitchFamily="50" charset="0"/>
              </a:rPr>
              <a:t>ukur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pendeteksi</a:t>
            </a:r>
            <a:r>
              <a:rPr lang="en-US" sz="2000" dirty="0">
                <a:latin typeface="Gotham Rounded Book" pitchFamily="50" charset="0"/>
              </a:rPr>
              <a:t> gas </a:t>
            </a:r>
            <a:r>
              <a:rPr lang="en-US" sz="2000" dirty="0" err="1">
                <a:latin typeface="Gotham Rounded Book" pitchFamily="50" charset="0"/>
              </a:rPr>
              <a:t>alternatif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untuk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pembacaan</a:t>
            </a:r>
            <a:r>
              <a:rPr lang="en-US" sz="2000" dirty="0">
                <a:latin typeface="Gotham Rounded Book" pitchFamily="50" charset="0"/>
              </a:rPr>
              <a:t> gas </a:t>
            </a:r>
            <a:r>
              <a:rPr lang="en-US" sz="2000" dirty="0" err="1">
                <a:latin typeface="Gotham Rounded Book" pitchFamily="50" charset="0"/>
              </a:rPr>
              <a:t>hidrokarbon</a:t>
            </a:r>
            <a:r>
              <a:rPr lang="en-US" sz="2000" dirty="0">
                <a:latin typeface="Gotham Rounded Book" pitchFamily="50" charset="0"/>
              </a:rPr>
              <a:t> (HC) </a:t>
            </a:r>
            <a:r>
              <a:rPr lang="en-US" sz="2000" dirty="0" err="1">
                <a:latin typeface="Gotham Rounded Book" pitchFamily="50" charset="0"/>
              </a:rPr>
              <a:t>dan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Karbon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monoksida</a:t>
            </a:r>
            <a:r>
              <a:rPr lang="en-US" sz="2000" dirty="0">
                <a:latin typeface="Gotham Rounded Book" pitchFamily="50" charset="0"/>
              </a:rPr>
              <a:t> (CO) yang </a:t>
            </a:r>
            <a:r>
              <a:rPr lang="en-US" sz="2000" dirty="0" err="1">
                <a:latin typeface="Gotham Rounded Book" pitchFamily="50" charset="0"/>
              </a:rPr>
              <a:t>dihasilkan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dari</a:t>
            </a:r>
            <a:r>
              <a:rPr lang="en-US" sz="2000" dirty="0">
                <a:latin typeface="Gotham Rounded Book" pitchFamily="50" charset="0"/>
              </a:rPr>
              <a:t> emisi gas </a:t>
            </a:r>
            <a:r>
              <a:rPr lang="en-US" sz="2000" dirty="0" err="1">
                <a:latin typeface="Gotham Rounded Book" pitchFamily="50" charset="0"/>
              </a:rPr>
              <a:t>buang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kendaraan</a:t>
            </a:r>
            <a:r>
              <a:rPr lang="en-US" sz="2000" dirty="0">
                <a:latin typeface="Gotham Rounded Book" pitchFamily="50" charset="0"/>
              </a:rPr>
              <a:t> </a:t>
            </a:r>
            <a:r>
              <a:rPr lang="en-US" sz="2000" dirty="0" err="1">
                <a:latin typeface="Gotham Rounded Book" pitchFamily="50" charset="0"/>
              </a:rPr>
              <a:t>bermotor</a:t>
            </a:r>
            <a:r>
              <a:rPr lang="en-US" sz="2000" dirty="0">
                <a:latin typeface="Gotham Rounded Book" pitchFamily="50" charset="0"/>
              </a:rPr>
              <a:t>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80A65B7B-7884-FD1F-628E-5AFB7636C32F}"/>
              </a:ext>
            </a:extLst>
          </p:cNvPr>
          <p:cNvSpPr/>
          <p:nvPr/>
        </p:nvSpPr>
        <p:spPr>
          <a:xfrm>
            <a:off x="6363472" y="3675557"/>
            <a:ext cx="551839" cy="551839"/>
          </a:xfrm>
          <a:prstGeom prst="ellipse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Gotham Rounded Book" pitchFamily="50" charset="0"/>
              </a:rPr>
              <a:t>2</a:t>
            </a:r>
            <a:endParaRPr lang="en-ID" b="1" dirty="0">
              <a:latin typeface="Gotham Rounded Book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D0CD1C6-697F-29CB-608A-1BBB9056AC13}"/>
              </a:ext>
            </a:extLst>
          </p:cNvPr>
          <p:cNvSpPr txBox="1"/>
          <p:nvPr/>
        </p:nvSpPr>
        <p:spPr>
          <a:xfrm>
            <a:off x="1283338" y="814904"/>
            <a:ext cx="14827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Gotham Rounded Medium" panose="02000000000000000000" pitchFamily="50" charset="0"/>
              </a:rPr>
              <a:t>BAB I</a:t>
            </a:r>
            <a:endParaRPr lang="en-ID" sz="3200" dirty="0">
              <a:solidFill>
                <a:schemeClr val="bg2">
                  <a:lumMod val="75000"/>
                </a:schemeClr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D4302895-246B-FE5C-3B70-7D949A628983}"/>
              </a:ext>
            </a:extLst>
          </p:cNvPr>
          <p:cNvSpPr txBox="1"/>
          <p:nvPr/>
        </p:nvSpPr>
        <p:spPr>
          <a:xfrm>
            <a:off x="1236932" y="5689478"/>
            <a:ext cx="824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otham Rounded Book" pitchFamily="50" charset="0"/>
              </a:rPr>
              <a:t>Page</a:t>
            </a:r>
            <a:endParaRPr lang="en-ID" sz="2000" dirty="0">
              <a:latin typeface="Gotham Rounded Book" pitchFamily="50" charset="0"/>
            </a:endParaRPr>
          </a:p>
        </p:txBody>
      </p:sp>
      <p:sp>
        <p:nvSpPr>
          <p:cNvPr id="5" name="TextBox 4">
            <a:hlinkClick r:id="rId6" action="ppaction://hlinksldjump"/>
            <a:extLst>
              <a:ext uri="{FF2B5EF4-FFF2-40B4-BE49-F238E27FC236}">
                <a16:creationId xmlns="" xmlns:a16="http://schemas.microsoft.com/office/drawing/2014/main" id="{992D8877-05B4-2FB4-6650-E3B3E167639E}"/>
              </a:ext>
            </a:extLst>
          </p:cNvPr>
          <p:cNvSpPr txBox="1"/>
          <p:nvPr/>
        </p:nvSpPr>
        <p:spPr>
          <a:xfrm>
            <a:off x="2037925" y="5689478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1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6" name="TextBox 5">
            <a:hlinkClick r:id="rId7" action="ppaction://hlinksldjump"/>
            <a:extLst>
              <a:ext uri="{FF2B5EF4-FFF2-40B4-BE49-F238E27FC236}">
                <a16:creationId xmlns="" xmlns:a16="http://schemas.microsoft.com/office/drawing/2014/main" id="{BBD7DA96-12D7-1713-D380-07CF0493B9CB}"/>
              </a:ext>
            </a:extLst>
          </p:cNvPr>
          <p:cNvSpPr txBox="1"/>
          <p:nvPr/>
        </p:nvSpPr>
        <p:spPr>
          <a:xfrm>
            <a:off x="2339611" y="5702178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2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7" name="TextBox 6">
            <a:hlinkClick r:id="rId8" action="ppaction://hlinksldjump"/>
            <a:extLst>
              <a:ext uri="{FF2B5EF4-FFF2-40B4-BE49-F238E27FC236}">
                <a16:creationId xmlns="" xmlns:a16="http://schemas.microsoft.com/office/drawing/2014/main" id="{94C3A5D8-0217-EDA1-D123-06203279B54E}"/>
              </a:ext>
            </a:extLst>
          </p:cNvPr>
          <p:cNvSpPr txBox="1"/>
          <p:nvPr/>
        </p:nvSpPr>
        <p:spPr>
          <a:xfrm>
            <a:off x="2669380" y="570217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25464"/>
                </a:solidFill>
                <a:latin typeface="Gotham Rounded Bold" pitchFamily="50" charset="0"/>
              </a:rPr>
              <a:t>3</a:t>
            </a:r>
            <a:endParaRPr lang="en-ID" sz="2000" dirty="0">
              <a:solidFill>
                <a:srgbClr val="025464"/>
              </a:solidFill>
              <a:latin typeface="Gotham Rounded Bold" pitchFamily="50" charset="0"/>
            </a:endParaRPr>
          </a:p>
        </p:txBody>
      </p:sp>
      <p:sp>
        <p:nvSpPr>
          <p:cNvPr id="25" name="TextBox 24">
            <a:hlinkClick r:id="rId9" action="ppaction://hlinksldjump"/>
            <a:extLst>
              <a:ext uri="{FF2B5EF4-FFF2-40B4-BE49-F238E27FC236}">
                <a16:creationId xmlns="" xmlns:a16="http://schemas.microsoft.com/office/drawing/2014/main" id="{BB849037-C737-4A69-24D3-80E3BF58ED79}"/>
              </a:ext>
            </a:extLst>
          </p:cNvPr>
          <p:cNvSpPr txBox="1"/>
          <p:nvPr/>
        </p:nvSpPr>
        <p:spPr>
          <a:xfrm>
            <a:off x="2999149" y="5702178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4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AFE6A7F0-3254-67A2-3E1A-8D18F7DFA0C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0290862" y="688544"/>
            <a:ext cx="976234" cy="83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11762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2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=""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pic>
        <p:nvPicPr>
          <p:cNvPr id="41" name="Graphic 40" descr="Home with solid fill">
            <a:hlinkClick r:id="rId2" action="ppaction://hlinksldjump"/>
            <a:extLst>
              <a:ext uri="{FF2B5EF4-FFF2-40B4-BE49-F238E27FC236}">
                <a16:creationId xmlns="" xmlns:a16="http://schemas.microsoft.com/office/drawing/2014/main" id="{F0D60671-C3B0-CBAF-A905-015563E2E5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2262" y="5614750"/>
            <a:ext cx="553434" cy="5534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9167FC12-1869-0444-C8E9-FCB442D668E9}"/>
              </a:ext>
            </a:extLst>
          </p:cNvPr>
          <p:cNvSpPr txBox="1"/>
          <p:nvPr/>
        </p:nvSpPr>
        <p:spPr>
          <a:xfrm>
            <a:off x="1236932" y="1352337"/>
            <a:ext cx="5168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 smtClean="0">
                <a:solidFill>
                  <a:srgbClr val="025464"/>
                </a:solidFill>
                <a:latin typeface="Gotham Rounded Medium" panose="02000000000000000000" pitchFamily="50" charset="0"/>
              </a:rPr>
              <a:t>Batasan</a:t>
            </a:r>
            <a:r>
              <a:rPr lang="en-US" sz="3600" dirty="0" smtClean="0">
                <a:solidFill>
                  <a:srgbClr val="025464"/>
                </a:solidFill>
                <a:latin typeface="Gotham Rounded Medium" panose="02000000000000000000" pitchFamily="50" charset="0"/>
              </a:rPr>
              <a:t> </a:t>
            </a:r>
            <a:r>
              <a:rPr lang="en-US" sz="3600" dirty="0" err="1" smtClean="0">
                <a:solidFill>
                  <a:srgbClr val="025464"/>
                </a:solidFill>
                <a:latin typeface="Gotham Rounded Medium" panose="02000000000000000000" pitchFamily="50" charset="0"/>
              </a:rPr>
              <a:t>Masalah</a:t>
            </a:r>
            <a:endParaRPr lang="en-ID" sz="36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="" xmlns:a16="http://schemas.microsoft.com/office/drawing/2014/main" id="{81E199C7-16C7-0CF4-D3C9-9A1A68673826}"/>
              </a:ext>
            </a:extLst>
          </p:cNvPr>
          <p:cNvSpPr/>
          <p:nvPr/>
        </p:nvSpPr>
        <p:spPr>
          <a:xfrm>
            <a:off x="1283338" y="2133613"/>
            <a:ext cx="3730622" cy="1706867"/>
          </a:xfrm>
          <a:prstGeom prst="roundRect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5DE30507-4D03-75AA-8664-CF999B6F7C76}"/>
              </a:ext>
            </a:extLst>
          </p:cNvPr>
          <p:cNvSpPr txBox="1"/>
          <p:nvPr/>
        </p:nvSpPr>
        <p:spPr>
          <a:xfrm>
            <a:off x="1607109" y="2386168"/>
            <a:ext cx="3140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>
                <a:solidFill>
                  <a:schemeClr val="bg1"/>
                </a:solidFill>
                <a:latin typeface="Gotham Rounded Book" pitchFamily="50" charset="0"/>
              </a:rPr>
              <a:t>1. </a:t>
            </a:r>
            <a:r>
              <a:rPr lang="en-US" dirty="0" err="1" smtClean="0">
                <a:solidFill>
                  <a:schemeClr val="bg1"/>
                </a:solidFill>
                <a:latin typeface="Gotham Rounded Book" pitchFamily="50" charset="0"/>
              </a:rPr>
              <a:t>Sistem</a:t>
            </a:r>
            <a:r>
              <a:rPr lang="en-US" dirty="0" smtClean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monitoring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uji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emisi gas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buang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kendaraan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hanya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dapat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mengukur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kadar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gas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karbon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monoksida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(CO)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dan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hidrokarbon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(HC).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F206AC2-8594-D04F-E953-F01849CA161E}"/>
              </a:ext>
            </a:extLst>
          </p:cNvPr>
          <p:cNvSpPr txBox="1"/>
          <p:nvPr/>
        </p:nvSpPr>
        <p:spPr>
          <a:xfrm>
            <a:off x="1283338" y="814904"/>
            <a:ext cx="14827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Gotham Rounded Medium" panose="02000000000000000000" pitchFamily="50" charset="0"/>
              </a:rPr>
              <a:t>BAB I</a:t>
            </a:r>
            <a:endParaRPr lang="en-ID" sz="3200" dirty="0">
              <a:solidFill>
                <a:schemeClr val="bg2">
                  <a:lumMod val="75000"/>
                </a:schemeClr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14331BE-0D15-4BC9-3181-ED9C480E360D}"/>
              </a:ext>
            </a:extLst>
          </p:cNvPr>
          <p:cNvSpPr txBox="1"/>
          <p:nvPr/>
        </p:nvSpPr>
        <p:spPr>
          <a:xfrm>
            <a:off x="1236932" y="5689478"/>
            <a:ext cx="824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otham Rounded Book" pitchFamily="50" charset="0"/>
              </a:rPr>
              <a:t>Page</a:t>
            </a:r>
            <a:endParaRPr lang="en-ID" sz="2000" dirty="0">
              <a:latin typeface="Gotham Rounded Book" pitchFamily="50" charset="0"/>
            </a:endParaRPr>
          </a:p>
        </p:txBody>
      </p:sp>
      <p:sp>
        <p:nvSpPr>
          <p:cNvPr id="5" name="TextBox 4">
            <a:hlinkClick r:id="rId5" action="ppaction://hlinksldjump"/>
            <a:extLst>
              <a:ext uri="{FF2B5EF4-FFF2-40B4-BE49-F238E27FC236}">
                <a16:creationId xmlns="" xmlns:a16="http://schemas.microsoft.com/office/drawing/2014/main" id="{ACB46F99-DB85-C4B7-9AE3-4CE52B00331C}"/>
              </a:ext>
            </a:extLst>
          </p:cNvPr>
          <p:cNvSpPr txBox="1"/>
          <p:nvPr/>
        </p:nvSpPr>
        <p:spPr>
          <a:xfrm>
            <a:off x="2037925" y="5689478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1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6" name="TextBox 5">
            <a:hlinkClick r:id="rId6" action="ppaction://hlinksldjump"/>
            <a:extLst>
              <a:ext uri="{FF2B5EF4-FFF2-40B4-BE49-F238E27FC236}">
                <a16:creationId xmlns="" xmlns:a16="http://schemas.microsoft.com/office/drawing/2014/main" id="{02A965EC-D621-637C-15AC-677D5A59CCAE}"/>
              </a:ext>
            </a:extLst>
          </p:cNvPr>
          <p:cNvSpPr txBox="1"/>
          <p:nvPr/>
        </p:nvSpPr>
        <p:spPr>
          <a:xfrm>
            <a:off x="2339611" y="5702178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2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7" name="TextBox 6">
            <a:hlinkClick r:id="rId7" action="ppaction://hlinksldjump"/>
            <a:extLst>
              <a:ext uri="{FF2B5EF4-FFF2-40B4-BE49-F238E27FC236}">
                <a16:creationId xmlns="" xmlns:a16="http://schemas.microsoft.com/office/drawing/2014/main" id="{D7500DCB-6B02-CAF2-79EC-03DDDBA0D0CB}"/>
              </a:ext>
            </a:extLst>
          </p:cNvPr>
          <p:cNvSpPr txBox="1"/>
          <p:nvPr/>
        </p:nvSpPr>
        <p:spPr>
          <a:xfrm>
            <a:off x="2669380" y="570217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3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13" name="TextBox 12">
            <a:hlinkClick r:id="rId8" action="ppaction://hlinksldjump"/>
            <a:extLst>
              <a:ext uri="{FF2B5EF4-FFF2-40B4-BE49-F238E27FC236}">
                <a16:creationId xmlns="" xmlns:a16="http://schemas.microsoft.com/office/drawing/2014/main" id="{67AA2EF3-C628-2A88-A1CA-03AB297F87BE}"/>
              </a:ext>
            </a:extLst>
          </p:cNvPr>
          <p:cNvSpPr txBox="1"/>
          <p:nvPr/>
        </p:nvSpPr>
        <p:spPr>
          <a:xfrm>
            <a:off x="2999149" y="5702178"/>
            <a:ext cx="360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25464"/>
                </a:solidFill>
                <a:latin typeface="Gotham Rounded Bold" pitchFamily="50" charset="0"/>
              </a:rPr>
              <a:t>4</a:t>
            </a:r>
            <a:endParaRPr lang="en-ID" sz="2000" dirty="0">
              <a:solidFill>
                <a:srgbClr val="025464"/>
              </a:solidFill>
              <a:latin typeface="Gotham Rounded Bold" pitchFamily="50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AFE6A7F0-3254-67A2-3E1A-8D18F7DFA0C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0290862" y="688544"/>
            <a:ext cx="976234" cy="837493"/>
          </a:xfrm>
          <a:prstGeom prst="rect">
            <a:avLst/>
          </a:prstGeom>
        </p:spPr>
      </p:pic>
      <p:sp>
        <p:nvSpPr>
          <p:cNvPr id="20" name="Rectangle: Rounded Corners 15">
            <a:extLst>
              <a:ext uri="{FF2B5EF4-FFF2-40B4-BE49-F238E27FC236}">
                <a16:creationId xmlns="" xmlns:a16="http://schemas.microsoft.com/office/drawing/2014/main" id="{81E199C7-16C7-0CF4-D3C9-9A1A68673826}"/>
              </a:ext>
            </a:extLst>
          </p:cNvPr>
          <p:cNvSpPr/>
          <p:nvPr/>
        </p:nvSpPr>
        <p:spPr>
          <a:xfrm>
            <a:off x="5337731" y="1280179"/>
            <a:ext cx="3730622" cy="1706867"/>
          </a:xfrm>
          <a:prstGeom prst="roundRect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5DE30507-4D03-75AA-8664-CF999B6F7C76}"/>
              </a:ext>
            </a:extLst>
          </p:cNvPr>
          <p:cNvSpPr txBox="1"/>
          <p:nvPr/>
        </p:nvSpPr>
        <p:spPr>
          <a:xfrm>
            <a:off x="5661502" y="1532734"/>
            <a:ext cx="3140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182563"/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2.	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Satuan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dari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pembacaan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gas CO tidak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dapat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membaca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dalam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satuan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persen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sehingga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harus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melakukan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konversi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secara manual. </a:t>
            </a:r>
          </a:p>
        </p:txBody>
      </p:sp>
      <p:sp>
        <p:nvSpPr>
          <p:cNvPr id="24" name="Rectangle: Rounded Corners 15">
            <a:extLst>
              <a:ext uri="{FF2B5EF4-FFF2-40B4-BE49-F238E27FC236}">
                <a16:creationId xmlns="" xmlns:a16="http://schemas.microsoft.com/office/drawing/2014/main" id="{81E199C7-16C7-0CF4-D3C9-9A1A68673826}"/>
              </a:ext>
            </a:extLst>
          </p:cNvPr>
          <p:cNvSpPr/>
          <p:nvPr/>
        </p:nvSpPr>
        <p:spPr>
          <a:xfrm>
            <a:off x="2198297" y="3962603"/>
            <a:ext cx="3730622" cy="1706867"/>
          </a:xfrm>
          <a:prstGeom prst="roundRect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5DE30507-4D03-75AA-8664-CF999B6F7C76}"/>
              </a:ext>
            </a:extLst>
          </p:cNvPr>
          <p:cNvSpPr txBox="1"/>
          <p:nvPr/>
        </p:nvSpPr>
        <p:spPr>
          <a:xfrm>
            <a:off x="2522068" y="4123718"/>
            <a:ext cx="31409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182563"/>
            <a:r>
              <a:rPr lang="en-US" dirty="0" smtClean="0">
                <a:solidFill>
                  <a:schemeClr val="bg1"/>
                </a:solidFill>
                <a:latin typeface="Gotham Rounded Book" pitchFamily="50" charset="0"/>
              </a:rPr>
              <a:t>3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.	Sensor Gas yang digunakan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memiliki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keterbatasan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yaitu range yang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diukur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sehingga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ketika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nilai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pengukuran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terlalu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besar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pembacaan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pada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sensor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menjadi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tidak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akurat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. </a:t>
            </a:r>
          </a:p>
        </p:txBody>
      </p:sp>
      <p:sp>
        <p:nvSpPr>
          <p:cNvPr id="26" name="Rectangle: Rounded Corners 15">
            <a:extLst>
              <a:ext uri="{FF2B5EF4-FFF2-40B4-BE49-F238E27FC236}">
                <a16:creationId xmlns="" xmlns:a16="http://schemas.microsoft.com/office/drawing/2014/main" id="{81E199C7-16C7-0CF4-D3C9-9A1A68673826}"/>
              </a:ext>
            </a:extLst>
          </p:cNvPr>
          <p:cNvSpPr/>
          <p:nvPr/>
        </p:nvSpPr>
        <p:spPr>
          <a:xfrm>
            <a:off x="7435066" y="3174055"/>
            <a:ext cx="3730622" cy="884117"/>
          </a:xfrm>
          <a:prstGeom prst="roundRect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5DE30507-4D03-75AA-8664-CF999B6F7C76}"/>
              </a:ext>
            </a:extLst>
          </p:cNvPr>
          <p:cNvSpPr txBox="1"/>
          <p:nvPr/>
        </p:nvSpPr>
        <p:spPr>
          <a:xfrm>
            <a:off x="7758837" y="3335170"/>
            <a:ext cx="3140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182563"/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4</a:t>
            </a:r>
            <a:r>
              <a:rPr lang="en-US" dirty="0" smtClean="0">
                <a:solidFill>
                  <a:schemeClr val="bg1"/>
                </a:solidFill>
                <a:latin typeface="Gotham Rounded Book" pitchFamily="50" charset="0"/>
              </a:rPr>
              <a:t>.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	</a:t>
            </a:r>
            <a:r>
              <a:rPr lang="en-US" dirty="0" err="1" smtClean="0">
                <a:solidFill>
                  <a:schemeClr val="bg1"/>
                </a:solidFill>
                <a:latin typeface="Gotham Rounded Book" pitchFamily="50" charset="0"/>
              </a:rPr>
              <a:t>Metode</a:t>
            </a:r>
            <a:r>
              <a:rPr lang="en-US" dirty="0" smtClean="0">
                <a:solidFill>
                  <a:schemeClr val="bg1"/>
                </a:solidFill>
                <a:latin typeface="Gotham Rounded Book" pitchFamily="50" charset="0"/>
              </a:rPr>
              <a:t> fuzzy yang digunakan </a:t>
            </a:r>
            <a:r>
              <a:rPr lang="en-US" dirty="0" err="1" smtClean="0">
                <a:solidFill>
                  <a:schemeClr val="bg1"/>
                </a:solidFill>
                <a:latin typeface="Gotham Rounded Book" pitchFamily="50" charset="0"/>
              </a:rPr>
              <a:t>adalah</a:t>
            </a:r>
            <a:r>
              <a:rPr lang="en-US" dirty="0" smtClean="0">
                <a:solidFill>
                  <a:schemeClr val="bg1"/>
                </a:solidFill>
                <a:latin typeface="Gotham Rounded Book" pitchFamily="50" charset="0"/>
              </a:rPr>
              <a:t> fuzzy </a:t>
            </a:r>
            <a:r>
              <a:rPr lang="en-US" dirty="0" err="1" smtClean="0">
                <a:solidFill>
                  <a:schemeClr val="bg1"/>
                </a:solidFill>
                <a:latin typeface="Gotham Rounded Book" pitchFamily="50" charset="0"/>
              </a:rPr>
              <a:t>mamdani</a:t>
            </a:r>
            <a:r>
              <a:rPr lang="en-US" dirty="0" smtClean="0">
                <a:solidFill>
                  <a:schemeClr val="bg1"/>
                </a:solidFill>
                <a:latin typeface="Gotham Rounded Book" pitchFamily="50" charset="0"/>
              </a:rPr>
              <a:t>. </a:t>
            </a:r>
            <a:endParaRPr lang="en-US" dirty="0">
              <a:solidFill>
                <a:schemeClr val="bg1"/>
              </a:solidFill>
              <a:latin typeface="Gotham Rounded Book" pitchFamily="50" charset="0"/>
            </a:endParaRPr>
          </a:p>
        </p:txBody>
      </p:sp>
      <p:sp>
        <p:nvSpPr>
          <p:cNvPr id="28" name="Rectangle: Rounded Corners 15">
            <a:extLst>
              <a:ext uri="{FF2B5EF4-FFF2-40B4-BE49-F238E27FC236}">
                <a16:creationId xmlns="" xmlns:a16="http://schemas.microsoft.com/office/drawing/2014/main" id="{81E199C7-16C7-0CF4-D3C9-9A1A68673826}"/>
              </a:ext>
            </a:extLst>
          </p:cNvPr>
          <p:cNvSpPr/>
          <p:nvPr/>
        </p:nvSpPr>
        <p:spPr>
          <a:xfrm>
            <a:off x="6576461" y="4283039"/>
            <a:ext cx="3730622" cy="1318008"/>
          </a:xfrm>
          <a:prstGeom prst="roundRect">
            <a:avLst/>
          </a:prstGeom>
          <a:solidFill>
            <a:srgbClr val="02546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5DE30507-4D03-75AA-8664-CF999B6F7C76}"/>
              </a:ext>
            </a:extLst>
          </p:cNvPr>
          <p:cNvSpPr txBox="1"/>
          <p:nvPr/>
        </p:nvSpPr>
        <p:spPr>
          <a:xfrm>
            <a:off x="6900232" y="4489873"/>
            <a:ext cx="31409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182563"/>
            <a:r>
              <a:rPr lang="en-US" dirty="0" smtClean="0">
                <a:solidFill>
                  <a:schemeClr val="bg1"/>
                </a:solidFill>
                <a:latin typeface="Gotham Rounded Book" pitchFamily="50" charset="0"/>
              </a:rPr>
              <a:t>5.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	</a:t>
            </a:r>
            <a:r>
              <a:rPr lang="en-US" dirty="0" err="1" smtClean="0">
                <a:solidFill>
                  <a:schemeClr val="bg1"/>
                </a:solidFill>
                <a:latin typeface="Gotham Rounded Book" pitchFamily="50" charset="0"/>
              </a:rPr>
              <a:t>Sistem</a:t>
            </a:r>
            <a:r>
              <a:rPr lang="en-US" dirty="0" smtClean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ini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tidak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membahas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secara detail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tentang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pengaruh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dari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emisi gas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buang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kendaraan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terhadap </a:t>
            </a:r>
            <a:r>
              <a:rPr lang="en-US" dirty="0" err="1">
                <a:solidFill>
                  <a:schemeClr val="bg1"/>
                </a:solidFill>
                <a:latin typeface="Gotham Rounded Book" pitchFamily="50" charset="0"/>
              </a:rPr>
              <a:t>kesehatan</a:t>
            </a:r>
            <a:r>
              <a:rPr lang="en-US" dirty="0">
                <a:solidFill>
                  <a:schemeClr val="bg1"/>
                </a:solidFill>
                <a:latin typeface="Gotham Rounded Book" pitchFamily="50" charset="0"/>
              </a:rPr>
              <a:t> lingkungan. </a:t>
            </a:r>
          </a:p>
        </p:txBody>
      </p:sp>
    </p:spTree>
    <p:extLst>
      <p:ext uri="{BB962C8B-B14F-4D97-AF65-F5344CB8AC3E}">
        <p14:creationId xmlns:p14="http://schemas.microsoft.com/office/powerpoint/2010/main" val="404814129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=""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678F4D7-6000-3FF5-DAE7-3EDD4E0D7E98}"/>
              </a:ext>
            </a:extLst>
          </p:cNvPr>
          <p:cNvSpPr txBox="1"/>
          <p:nvPr/>
        </p:nvSpPr>
        <p:spPr>
          <a:xfrm>
            <a:off x="3857704" y="2096125"/>
            <a:ext cx="494339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BAB II</a:t>
            </a:r>
            <a:endParaRPr lang="en-ID" sz="115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11" name="Rectangle: Rounded Corners 10">
            <a:hlinkClick r:id="rId2" action="ppaction://hlinksldjump"/>
            <a:extLst>
              <a:ext uri="{FF2B5EF4-FFF2-40B4-BE49-F238E27FC236}">
                <a16:creationId xmlns="" xmlns:a16="http://schemas.microsoft.com/office/drawing/2014/main" id="{A053D7D1-6394-2720-52C2-3E4347007BE6}"/>
              </a:ext>
            </a:extLst>
          </p:cNvPr>
          <p:cNvSpPr/>
          <p:nvPr/>
        </p:nvSpPr>
        <p:spPr>
          <a:xfrm>
            <a:off x="4929095" y="4456217"/>
            <a:ext cx="2311400" cy="495300"/>
          </a:xfrm>
          <a:prstGeom prst="roundRect">
            <a:avLst>
              <a:gd name="adj" fmla="val 50000"/>
            </a:avLst>
          </a:prstGeom>
          <a:solidFill>
            <a:srgbClr val="E8A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 smtClean="0">
                <a:latin typeface="Gotham Rounded Medium" panose="02000000000000000000" pitchFamily="50" charset="0"/>
              </a:rPr>
              <a:t>Literatur</a:t>
            </a:r>
            <a:r>
              <a:rPr lang="en-US" sz="1600" dirty="0" smtClean="0">
                <a:latin typeface="Gotham Rounded Medium" panose="02000000000000000000" pitchFamily="50" charset="0"/>
              </a:rPr>
              <a:t> Review</a:t>
            </a:r>
            <a:endParaRPr lang="en-ID" sz="1600" dirty="0">
              <a:latin typeface="Gotham Rounded Medium" panose="02000000000000000000" pitchFamily="50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012" y="1092338"/>
            <a:ext cx="1209975" cy="100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61844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=""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BAD41D2-470F-DE24-FA6A-2F117B3375E2}"/>
              </a:ext>
            </a:extLst>
          </p:cNvPr>
          <p:cNvSpPr txBox="1"/>
          <p:nvPr/>
        </p:nvSpPr>
        <p:spPr>
          <a:xfrm>
            <a:off x="1231854" y="1388910"/>
            <a:ext cx="5173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 smtClean="0">
                <a:solidFill>
                  <a:srgbClr val="025464"/>
                </a:solidFill>
                <a:latin typeface="Gotham Rounded Medium" panose="02000000000000000000" pitchFamily="50" charset="0"/>
              </a:rPr>
              <a:t>Kajian</a:t>
            </a:r>
            <a:r>
              <a:rPr lang="en-US" sz="3600" dirty="0" smtClean="0">
                <a:solidFill>
                  <a:srgbClr val="025464"/>
                </a:solidFill>
                <a:latin typeface="Gotham Rounded Medium" panose="02000000000000000000" pitchFamily="50" charset="0"/>
              </a:rPr>
              <a:t> </a:t>
            </a:r>
            <a:r>
              <a:rPr lang="en-US" sz="3600" dirty="0" err="1" smtClean="0">
                <a:solidFill>
                  <a:srgbClr val="025464"/>
                </a:solidFill>
                <a:latin typeface="Gotham Rounded Medium" panose="02000000000000000000" pitchFamily="50" charset="0"/>
              </a:rPr>
              <a:t>Literatur</a:t>
            </a:r>
            <a:endParaRPr lang="en-ID" sz="36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pic>
        <p:nvPicPr>
          <p:cNvPr id="41" name="Graphic 40" descr="Home with solid fill">
            <a:hlinkClick r:id="rId2" action="ppaction://hlinksldjump"/>
            <a:extLst>
              <a:ext uri="{FF2B5EF4-FFF2-40B4-BE49-F238E27FC236}">
                <a16:creationId xmlns="" xmlns:a16="http://schemas.microsoft.com/office/drawing/2014/main" id="{F0D60671-C3B0-CBAF-A905-015563E2E5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2262" y="5614750"/>
            <a:ext cx="553434" cy="55343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2995A170-ECAD-2341-0DC4-3D4EE232CC86}"/>
              </a:ext>
            </a:extLst>
          </p:cNvPr>
          <p:cNvSpPr txBox="1"/>
          <p:nvPr/>
        </p:nvSpPr>
        <p:spPr>
          <a:xfrm>
            <a:off x="1262072" y="814904"/>
            <a:ext cx="14827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Gotham Rounded Medium" panose="02000000000000000000" pitchFamily="50" charset="0"/>
              </a:rPr>
              <a:t>BAB II</a:t>
            </a:r>
            <a:endParaRPr lang="en-ID" sz="3200" dirty="0">
              <a:solidFill>
                <a:schemeClr val="bg2">
                  <a:lumMod val="75000"/>
                </a:schemeClr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="" xmlns:a16="http://schemas.microsoft.com/office/drawing/2014/main" id="{94A617FF-2C00-1AD7-1E78-09FE77A2FC5F}"/>
              </a:ext>
            </a:extLst>
          </p:cNvPr>
          <p:cNvSpPr/>
          <p:nvPr/>
        </p:nvSpPr>
        <p:spPr>
          <a:xfrm>
            <a:off x="1116106" y="2579823"/>
            <a:ext cx="4867835" cy="1836224"/>
          </a:xfrm>
          <a:prstGeom prst="roundRect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EF2BC415-1297-8107-CBAF-3273E3BA9D78}"/>
              </a:ext>
            </a:extLst>
          </p:cNvPr>
          <p:cNvSpPr/>
          <p:nvPr/>
        </p:nvSpPr>
        <p:spPr>
          <a:xfrm>
            <a:off x="4919806" y="2587923"/>
            <a:ext cx="798128" cy="798128"/>
          </a:xfrm>
          <a:prstGeom prst="ellipse">
            <a:avLst/>
          </a:prstGeom>
          <a:solidFill>
            <a:srgbClr val="E8A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2">
            <a:extLst>
              <a:ext uri="{FF2B5EF4-FFF2-40B4-BE49-F238E27FC236}">
                <a16:creationId xmlns="" xmlns:a16="http://schemas.microsoft.com/office/drawing/2014/main" id="{7DD82C72-9CDE-3D50-882F-C3A2F2F290C6}"/>
              </a:ext>
            </a:extLst>
          </p:cNvPr>
          <p:cNvSpPr/>
          <p:nvPr/>
        </p:nvSpPr>
        <p:spPr>
          <a:xfrm>
            <a:off x="6461857" y="2579823"/>
            <a:ext cx="4376472" cy="1955932"/>
          </a:xfrm>
          <a:prstGeom prst="roundRect">
            <a:avLst>
              <a:gd name="adj" fmla="val 50000"/>
            </a:avLst>
          </a:prstGeom>
          <a:solidFill>
            <a:srgbClr val="0042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Oval 24">
            <a:extLst>
              <a:ext uri="{FF2B5EF4-FFF2-40B4-BE49-F238E27FC236}">
                <a16:creationId xmlns="" xmlns:a16="http://schemas.microsoft.com/office/drawing/2014/main" id="{F6477CDF-C760-0BD5-4BDA-DA1D1CCFBACF}"/>
              </a:ext>
            </a:extLst>
          </p:cNvPr>
          <p:cNvSpPr/>
          <p:nvPr/>
        </p:nvSpPr>
        <p:spPr>
          <a:xfrm>
            <a:off x="6297570" y="2579823"/>
            <a:ext cx="798128" cy="798128"/>
          </a:xfrm>
          <a:prstGeom prst="ellipse">
            <a:avLst/>
          </a:prstGeom>
          <a:solidFill>
            <a:srgbClr val="E8A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1" name="Graphic 30" descr="Bar chart with solid fill">
            <a:extLst>
              <a:ext uri="{FF2B5EF4-FFF2-40B4-BE49-F238E27FC236}">
                <a16:creationId xmlns="" xmlns:a16="http://schemas.microsoft.com/office/drawing/2014/main" id="{CD51CEEA-D8AF-6F69-E75C-EE6BAB3833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8172" y="2674460"/>
            <a:ext cx="559296" cy="55929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4" name="Graphic 33" descr="Books with solid fill">
            <a:extLst>
              <a:ext uri="{FF2B5EF4-FFF2-40B4-BE49-F238E27FC236}">
                <a16:creationId xmlns="" xmlns:a16="http://schemas.microsoft.com/office/drawing/2014/main" id="{A4D4528F-EE10-3DBA-3625-4F2844E7C2B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61019" y="2699239"/>
            <a:ext cx="559296" cy="55929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F3F068D2-356A-B8EE-5A44-A66207BA0CD0}"/>
              </a:ext>
            </a:extLst>
          </p:cNvPr>
          <p:cNvSpPr txBox="1"/>
          <p:nvPr/>
        </p:nvSpPr>
        <p:spPr>
          <a:xfrm>
            <a:off x="1571295" y="2692498"/>
            <a:ext cx="3370071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Dimas. A (2020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) “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Perancangan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 Alat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Uji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 Emisi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Kendaraan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Bermotor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Berbasis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 Arduino Mega 2560 dengan Basis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Penampil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 </a:t>
            </a:r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Android”</a:t>
            </a:r>
          </a:p>
          <a:p>
            <a:pPr algn="just"/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Presentasi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kesalahannya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pembacaannya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 sebesar 6, 31%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untuk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 gas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hidrokarbon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dan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 3, 73 %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untuk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 gas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karbon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monoksida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 yang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dilakukan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pada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kendaraan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uji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 Honda Versa 150 dengan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tahun</a:t>
            </a: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otham Rounded Book" pitchFamily="50" charset="0"/>
              </a:rPr>
              <a:t> 2014.</a:t>
            </a:r>
            <a:endParaRPr lang="en-US" sz="1600" b="1" dirty="0" smtClean="0">
              <a:solidFill>
                <a:schemeClr val="tx1">
                  <a:lumMod val="95000"/>
                  <a:lumOff val="5000"/>
                </a:schemeClr>
              </a:solidFill>
              <a:latin typeface="Gotham Rounded Book" pitchFamily="50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9ED02F62-35EC-91E7-B24E-8BC98F578DB5}"/>
              </a:ext>
            </a:extLst>
          </p:cNvPr>
          <p:cNvSpPr txBox="1"/>
          <p:nvPr/>
        </p:nvSpPr>
        <p:spPr>
          <a:xfrm>
            <a:off x="7139383" y="2719873"/>
            <a:ext cx="33700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 err="1" smtClean="0">
                <a:solidFill>
                  <a:schemeClr val="bg1"/>
                </a:solidFill>
                <a:latin typeface="Gotham Rounded Book" pitchFamily="50" charset="0"/>
              </a:rPr>
              <a:t>Heri</a:t>
            </a:r>
            <a:r>
              <a:rPr lang="en-US" sz="1400" dirty="0" smtClean="0">
                <a:solidFill>
                  <a:schemeClr val="bg1"/>
                </a:solidFill>
                <a:latin typeface="Gotham Rounded Book" pitchFamily="50" charset="0"/>
              </a:rPr>
              <a:t> et al., (2019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) “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Rancang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Bangun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Pengukur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Emisi Gas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Buang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Kendaraan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Bermotor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Berbasis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 smtClean="0">
                <a:solidFill>
                  <a:schemeClr val="bg1"/>
                </a:solidFill>
                <a:latin typeface="Gotham Rounded Book" pitchFamily="50" charset="0"/>
              </a:rPr>
              <a:t>Mikrokontroler</a:t>
            </a:r>
            <a:r>
              <a:rPr lang="en-US" sz="1400" dirty="0" smtClean="0">
                <a:solidFill>
                  <a:schemeClr val="bg1"/>
                </a:solidFill>
                <a:latin typeface="Gotham Rounded Book" pitchFamily="50" charset="0"/>
              </a:rPr>
              <a:t>”</a:t>
            </a:r>
            <a:endParaRPr lang="en-US" sz="1400" dirty="0">
              <a:solidFill>
                <a:schemeClr val="bg1"/>
              </a:solidFill>
              <a:latin typeface="Gotham Rounded Book" pitchFamily="50" charset="0"/>
            </a:endParaRPr>
          </a:p>
          <a:p>
            <a:pPr algn="just"/>
            <a:r>
              <a:rPr lang="en-US" sz="1600" b="1" dirty="0">
                <a:solidFill>
                  <a:schemeClr val="bg1"/>
                </a:solidFill>
                <a:latin typeface="Gotham Rounded Book" pitchFamily="50" charset="0"/>
              </a:rPr>
              <a:t>Hasil </a:t>
            </a:r>
            <a:r>
              <a:rPr lang="en-US" sz="1600" b="1" dirty="0" err="1">
                <a:solidFill>
                  <a:schemeClr val="bg1"/>
                </a:solidFill>
                <a:latin typeface="Gotham Rounded Book" pitchFamily="50" charset="0"/>
              </a:rPr>
              <a:t>dari</a:t>
            </a:r>
            <a:r>
              <a:rPr lang="en-US" sz="1600" b="1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Gotham Rounded Book" pitchFamily="50" charset="0"/>
              </a:rPr>
              <a:t>penelitian</a:t>
            </a:r>
            <a:r>
              <a:rPr lang="en-US" sz="1600" b="1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Gotham Rounded Book" pitchFamily="50" charset="0"/>
              </a:rPr>
              <a:t>ini</a:t>
            </a:r>
            <a:r>
              <a:rPr lang="en-US" sz="1600" b="1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Gotham Rounded Book" pitchFamily="50" charset="0"/>
              </a:rPr>
              <a:t>adalah</a:t>
            </a:r>
            <a:r>
              <a:rPr lang="en-US" sz="1600" b="1" dirty="0">
                <a:solidFill>
                  <a:schemeClr val="bg1"/>
                </a:solidFill>
                <a:latin typeface="Gotham Rounded Book" pitchFamily="50" charset="0"/>
              </a:rPr>
              <a:t> alat </a:t>
            </a:r>
            <a:r>
              <a:rPr lang="en-US" sz="1600" b="1" dirty="0" err="1">
                <a:solidFill>
                  <a:schemeClr val="bg1"/>
                </a:solidFill>
                <a:latin typeface="Gotham Rounded Book" pitchFamily="50" charset="0"/>
              </a:rPr>
              <a:t>ukur</a:t>
            </a:r>
            <a:r>
              <a:rPr lang="en-US" sz="1600" b="1" dirty="0">
                <a:solidFill>
                  <a:schemeClr val="bg1"/>
                </a:solidFill>
                <a:latin typeface="Gotham Rounded Book" pitchFamily="50" charset="0"/>
              </a:rPr>
              <a:t> yang </a:t>
            </a:r>
            <a:r>
              <a:rPr lang="en-US" sz="1600" b="1" dirty="0" err="1">
                <a:solidFill>
                  <a:schemeClr val="bg1"/>
                </a:solidFill>
                <a:latin typeface="Gotham Rounded Book" pitchFamily="50" charset="0"/>
              </a:rPr>
              <a:t>dapat</a:t>
            </a:r>
            <a:r>
              <a:rPr lang="en-US" sz="1600" b="1" dirty="0">
                <a:solidFill>
                  <a:schemeClr val="bg1"/>
                </a:solidFill>
                <a:latin typeface="Gotham Rounded Book" pitchFamily="50" charset="0"/>
              </a:rPr>
              <a:t> mengukur </a:t>
            </a:r>
            <a:r>
              <a:rPr lang="en-US" sz="1600" b="1" dirty="0" err="1">
                <a:solidFill>
                  <a:schemeClr val="bg1"/>
                </a:solidFill>
                <a:latin typeface="Gotham Rounded Book" pitchFamily="50" charset="0"/>
              </a:rPr>
              <a:t>kadar</a:t>
            </a:r>
            <a:r>
              <a:rPr lang="en-US" sz="1600" b="1" dirty="0">
                <a:solidFill>
                  <a:schemeClr val="bg1"/>
                </a:solidFill>
                <a:latin typeface="Gotham Rounded Book" pitchFamily="50" charset="0"/>
              </a:rPr>
              <a:t> CO </a:t>
            </a:r>
            <a:r>
              <a:rPr lang="en-US" sz="1600" b="1" dirty="0" err="1">
                <a:solidFill>
                  <a:schemeClr val="bg1"/>
                </a:solidFill>
                <a:latin typeface="Gotham Rounded Book" pitchFamily="50" charset="0"/>
              </a:rPr>
              <a:t>dan</a:t>
            </a:r>
            <a:r>
              <a:rPr lang="en-US" sz="1600" b="1" dirty="0">
                <a:solidFill>
                  <a:schemeClr val="bg1"/>
                </a:solidFill>
                <a:latin typeface="Gotham Rounded Book" pitchFamily="50" charset="0"/>
              </a:rPr>
              <a:t> HC </a:t>
            </a:r>
            <a:r>
              <a:rPr lang="en-US" sz="1600" b="1" dirty="0" err="1">
                <a:solidFill>
                  <a:schemeClr val="bg1"/>
                </a:solidFill>
                <a:latin typeface="Gotham Rounded Book" pitchFamily="50" charset="0"/>
              </a:rPr>
              <a:t>dalam</a:t>
            </a:r>
            <a:r>
              <a:rPr lang="en-US" sz="1600" b="1" dirty="0">
                <a:solidFill>
                  <a:schemeClr val="bg1"/>
                </a:solidFill>
                <a:latin typeface="Gotham Rounded Book" pitchFamily="50" charset="0"/>
              </a:rPr>
              <a:t> bentuk </a:t>
            </a:r>
            <a:r>
              <a:rPr lang="en-US" sz="1600" b="1" dirty="0" err="1">
                <a:solidFill>
                  <a:schemeClr val="bg1"/>
                </a:solidFill>
                <a:latin typeface="Gotham Rounded Book" pitchFamily="50" charset="0"/>
              </a:rPr>
              <a:t>angka</a:t>
            </a:r>
            <a:r>
              <a:rPr lang="en-US" sz="1600" b="1" dirty="0">
                <a:solidFill>
                  <a:schemeClr val="bg1"/>
                </a:solidFill>
                <a:latin typeface="Gotham Rounded Book" pitchFamily="50" charset="0"/>
              </a:rPr>
              <a:t>. </a:t>
            </a:r>
            <a:r>
              <a:rPr lang="en-US" sz="1600" b="1" dirty="0" err="1">
                <a:solidFill>
                  <a:schemeClr val="bg1"/>
                </a:solidFill>
                <a:latin typeface="Gotham Rounded Book" pitchFamily="50" charset="0"/>
              </a:rPr>
              <a:t>Tetapi</a:t>
            </a:r>
            <a:r>
              <a:rPr lang="en-US" sz="1600" b="1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Gotham Rounded Book" pitchFamily="50" charset="0"/>
              </a:rPr>
              <a:t>pada</a:t>
            </a:r>
            <a:r>
              <a:rPr lang="en-US" sz="1600" b="1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Gotham Rounded Book" pitchFamily="50" charset="0"/>
              </a:rPr>
              <a:t>penelitian</a:t>
            </a:r>
            <a:r>
              <a:rPr lang="en-US" sz="1600" b="1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Gotham Rounded Book" pitchFamily="50" charset="0"/>
              </a:rPr>
              <a:t>ini</a:t>
            </a:r>
            <a:r>
              <a:rPr lang="en-US" sz="1600" b="1" dirty="0">
                <a:solidFill>
                  <a:schemeClr val="bg1"/>
                </a:solidFill>
                <a:latin typeface="Gotham Rounded Book" pitchFamily="50" charset="0"/>
              </a:rPr>
              <a:t> tidak menggunakan fuzzy sebagai </a:t>
            </a:r>
            <a:r>
              <a:rPr lang="en-US" sz="1600" b="1" dirty="0" err="1">
                <a:solidFill>
                  <a:schemeClr val="bg1"/>
                </a:solidFill>
                <a:latin typeface="Gotham Rounded Book" pitchFamily="50" charset="0"/>
              </a:rPr>
              <a:t>metode</a:t>
            </a:r>
            <a:r>
              <a:rPr lang="en-US" sz="1600" b="1" dirty="0">
                <a:solidFill>
                  <a:schemeClr val="bg1"/>
                </a:solidFill>
                <a:latin typeface="Gotham Rounded Book" pitchFamily="50" charset="0"/>
              </a:rPr>
              <a:t> yang </a:t>
            </a:r>
            <a:r>
              <a:rPr lang="en-US" sz="1600" b="1" dirty="0" smtClean="0">
                <a:solidFill>
                  <a:schemeClr val="bg1"/>
                </a:solidFill>
                <a:latin typeface="Gotham Rounded Book" pitchFamily="50" charset="0"/>
              </a:rPr>
              <a:t>digunakan.</a:t>
            </a:r>
            <a:endParaRPr lang="en-US" sz="1600" b="1" dirty="0">
              <a:solidFill>
                <a:schemeClr val="bg1"/>
              </a:solidFill>
              <a:latin typeface="Gotham Rounded Book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737AF80-EFEC-DD8D-9FAC-299FA351559C}"/>
              </a:ext>
            </a:extLst>
          </p:cNvPr>
          <p:cNvSpPr txBox="1"/>
          <p:nvPr/>
        </p:nvSpPr>
        <p:spPr>
          <a:xfrm>
            <a:off x="1236932" y="5689478"/>
            <a:ext cx="824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otham Rounded Book" pitchFamily="50" charset="0"/>
              </a:rPr>
              <a:t>Page</a:t>
            </a:r>
            <a:endParaRPr lang="en-ID" sz="2000" dirty="0">
              <a:latin typeface="Gotham Rounded Book" pitchFamily="50" charset="0"/>
            </a:endParaRPr>
          </a:p>
        </p:txBody>
      </p:sp>
      <p:sp>
        <p:nvSpPr>
          <p:cNvPr id="4" name="TextBox 3">
            <a:hlinkClick r:id="rId9" action="ppaction://hlinksldjump"/>
            <a:extLst>
              <a:ext uri="{FF2B5EF4-FFF2-40B4-BE49-F238E27FC236}">
                <a16:creationId xmlns="" xmlns:a16="http://schemas.microsoft.com/office/drawing/2014/main" id="{612D4971-F5D0-EA1C-18F0-B32CB43FD06B}"/>
              </a:ext>
            </a:extLst>
          </p:cNvPr>
          <p:cNvSpPr txBox="1"/>
          <p:nvPr/>
        </p:nvSpPr>
        <p:spPr>
          <a:xfrm>
            <a:off x="2037925" y="5689478"/>
            <a:ext cx="279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25464"/>
                </a:solidFill>
                <a:latin typeface="Gotham Rounded Bold" pitchFamily="50" charset="0"/>
              </a:rPr>
              <a:t>1</a:t>
            </a:r>
            <a:endParaRPr lang="en-ID" sz="2000" dirty="0">
              <a:solidFill>
                <a:srgbClr val="025464"/>
              </a:solidFill>
              <a:latin typeface="Gotham Rounded Bold" pitchFamily="50" charset="0"/>
            </a:endParaRPr>
          </a:p>
        </p:txBody>
      </p:sp>
      <p:sp>
        <p:nvSpPr>
          <p:cNvPr id="5" name="TextBox 4">
            <a:hlinkClick r:id="rId9" action="ppaction://hlinksldjump"/>
            <a:extLst>
              <a:ext uri="{FF2B5EF4-FFF2-40B4-BE49-F238E27FC236}">
                <a16:creationId xmlns="" xmlns:a16="http://schemas.microsoft.com/office/drawing/2014/main" id="{4A0D18D1-89FD-96B6-C5E0-84CFA6A55B8C}"/>
              </a:ext>
            </a:extLst>
          </p:cNvPr>
          <p:cNvSpPr txBox="1"/>
          <p:nvPr/>
        </p:nvSpPr>
        <p:spPr>
          <a:xfrm>
            <a:off x="2339611" y="5702178"/>
            <a:ext cx="279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Gotham Rounded Bold" pitchFamily="50" charset="0"/>
              </a:rPr>
              <a:t>2</a:t>
            </a:r>
            <a:endParaRPr lang="en-ID" sz="2000" dirty="0">
              <a:solidFill>
                <a:schemeClr val="bg1">
                  <a:lumMod val="65000"/>
                </a:schemeClr>
              </a:solidFill>
              <a:latin typeface="Gotham Rounded Bold" pitchFamily="50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AFE6A7F0-3254-67A2-3E1A-8D18F7DFA0C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0290862" y="688544"/>
            <a:ext cx="976234" cy="83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0883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=""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pic>
        <p:nvPicPr>
          <p:cNvPr id="41" name="Graphic 40" descr="Home with solid fill">
            <a:hlinkClick r:id="rId2" action="ppaction://hlinksldjump"/>
            <a:extLst>
              <a:ext uri="{FF2B5EF4-FFF2-40B4-BE49-F238E27FC236}">
                <a16:creationId xmlns="" xmlns:a16="http://schemas.microsoft.com/office/drawing/2014/main" id="{F0D60671-C3B0-CBAF-A905-015563E2E5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2262" y="5614750"/>
            <a:ext cx="553434" cy="55343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2995A170-ECAD-2341-0DC4-3D4EE232CC86}"/>
              </a:ext>
            </a:extLst>
          </p:cNvPr>
          <p:cNvSpPr txBox="1"/>
          <p:nvPr/>
        </p:nvSpPr>
        <p:spPr>
          <a:xfrm>
            <a:off x="1262072" y="814904"/>
            <a:ext cx="14827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Gotham Rounded Medium" panose="02000000000000000000" pitchFamily="50" charset="0"/>
              </a:rPr>
              <a:t>BAB II</a:t>
            </a:r>
            <a:endParaRPr lang="en-ID" sz="3200" dirty="0">
              <a:solidFill>
                <a:schemeClr val="bg2">
                  <a:lumMod val="75000"/>
                </a:schemeClr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6B029103-EADF-ED63-230D-3C815B82BD14}"/>
              </a:ext>
            </a:extLst>
          </p:cNvPr>
          <p:cNvSpPr txBox="1"/>
          <p:nvPr/>
        </p:nvSpPr>
        <p:spPr>
          <a:xfrm>
            <a:off x="1236932" y="5689478"/>
            <a:ext cx="824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otham Rounded Book" pitchFamily="50" charset="0"/>
              </a:rPr>
              <a:t>Page</a:t>
            </a:r>
            <a:endParaRPr lang="en-ID" sz="2000" dirty="0">
              <a:latin typeface="Gotham Rounded Book" pitchFamily="50" charset="0"/>
            </a:endParaRPr>
          </a:p>
        </p:txBody>
      </p:sp>
      <p:sp>
        <p:nvSpPr>
          <p:cNvPr id="17" name="TextBox 16">
            <a:hlinkClick r:id="rId5" action="ppaction://hlinksldjump"/>
            <a:extLst>
              <a:ext uri="{FF2B5EF4-FFF2-40B4-BE49-F238E27FC236}">
                <a16:creationId xmlns="" xmlns:a16="http://schemas.microsoft.com/office/drawing/2014/main" id="{7A806AF2-E3E9-C53C-FC65-A35849034EE3}"/>
              </a:ext>
            </a:extLst>
          </p:cNvPr>
          <p:cNvSpPr txBox="1"/>
          <p:nvPr/>
        </p:nvSpPr>
        <p:spPr>
          <a:xfrm>
            <a:off x="2037925" y="5689478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1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19" name="TextBox 18">
            <a:hlinkClick r:id="rId5" action="ppaction://hlinksldjump"/>
            <a:extLst>
              <a:ext uri="{FF2B5EF4-FFF2-40B4-BE49-F238E27FC236}">
                <a16:creationId xmlns="" xmlns:a16="http://schemas.microsoft.com/office/drawing/2014/main" id="{1BD71120-8FBA-CDF9-090B-9A6655D87F71}"/>
              </a:ext>
            </a:extLst>
          </p:cNvPr>
          <p:cNvSpPr txBox="1"/>
          <p:nvPr/>
        </p:nvSpPr>
        <p:spPr>
          <a:xfrm>
            <a:off x="2339611" y="5702178"/>
            <a:ext cx="279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25464"/>
                </a:solidFill>
                <a:latin typeface="Gotham Rounded Bold" pitchFamily="50" charset="0"/>
              </a:rPr>
              <a:t>2</a:t>
            </a:r>
            <a:endParaRPr lang="en-ID" sz="2000" dirty="0">
              <a:solidFill>
                <a:srgbClr val="025464"/>
              </a:solidFill>
              <a:latin typeface="Gotham Rounded Bold" pitchFamily="50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323865"/>
              </p:ext>
            </p:extLst>
          </p:nvPr>
        </p:nvGraphicFramePr>
        <p:xfrm>
          <a:off x="1735604" y="3196581"/>
          <a:ext cx="8720791" cy="137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67753"/>
                <a:gridCol w="1475774"/>
                <a:gridCol w="1828800"/>
                <a:gridCol w="1680883"/>
                <a:gridCol w="1767581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Kategori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Tahun Pembuatan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Karbon Monoksida (CO)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Hidrokarbon (HC)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Metode Pengujian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Sepeda Motor 2 langkah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&lt;2010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4,5 Persen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6.000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Idle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Sepeda Motor 4 langkah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&lt;2010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5,5 Persen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2.200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Idle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Sepeda Motor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2010 – 2018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4 Persen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1.200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Idle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Sepeda Motor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&gt;2018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3 Persen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1.000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200" dirty="0">
                          <a:effectLst/>
                        </a:rPr>
                        <a:t>Idle</a:t>
                      </a:r>
                      <a:endParaRPr lang="en-ID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392367" y="2771676"/>
            <a:ext cx="114072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(Sumber: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Peraturan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Menteri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Lingkungan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Hidup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Kehutanan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Nomor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8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Tahun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2023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tentang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Penerapan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Baku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Mutu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Emisi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Kendaraan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Bermotor</a:t>
            </a:r>
            <a:r>
              <a: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AFE6A7F0-3254-67A2-3E1A-8D18F7DFA0C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290862" y="688544"/>
            <a:ext cx="976234" cy="83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2767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=""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678F4D7-6000-3FF5-DAE7-3EDD4E0D7E98}"/>
              </a:ext>
            </a:extLst>
          </p:cNvPr>
          <p:cNvSpPr txBox="1"/>
          <p:nvPr/>
        </p:nvSpPr>
        <p:spPr>
          <a:xfrm>
            <a:off x="3303793" y="2096125"/>
            <a:ext cx="533041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BAB III</a:t>
            </a:r>
            <a:endParaRPr lang="en-ID" sz="115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11" name="Rectangle: Rounded Corners 10">
            <a:hlinkClick r:id="" action="ppaction://hlinkshowjump?jump=nextslide"/>
            <a:extLst>
              <a:ext uri="{FF2B5EF4-FFF2-40B4-BE49-F238E27FC236}">
                <a16:creationId xmlns="" xmlns:a16="http://schemas.microsoft.com/office/drawing/2014/main" id="{A053D7D1-6394-2720-52C2-3E4347007BE6}"/>
              </a:ext>
            </a:extLst>
          </p:cNvPr>
          <p:cNvSpPr/>
          <p:nvPr/>
        </p:nvSpPr>
        <p:spPr>
          <a:xfrm>
            <a:off x="4940300" y="4521200"/>
            <a:ext cx="2311400" cy="495300"/>
          </a:xfrm>
          <a:prstGeom prst="roundRect">
            <a:avLst>
              <a:gd name="adj" fmla="val 50000"/>
            </a:avLst>
          </a:prstGeom>
          <a:solidFill>
            <a:srgbClr val="E8A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latin typeface="Gotham Rounded Medium" panose="02000000000000000000" pitchFamily="50" charset="0"/>
              </a:rPr>
              <a:t>Metode</a:t>
            </a:r>
            <a:r>
              <a:rPr lang="en-US" sz="1600" dirty="0">
                <a:latin typeface="Gotham Rounded Medium" panose="02000000000000000000" pitchFamily="50" charset="0"/>
              </a:rPr>
              <a:t> </a:t>
            </a:r>
            <a:r>
              <a:rPr lang="en-US" sz="1600" dirty="0" err="1">
                <a:latin typeface="Gotham Rounded Medium" panose="02000000000000000000" pitchFamily="50" charset="0"/>
              </a:rPr>
              <a:t>Penelitian</a:t>
            </a:r>
            <a:endParaRPr lang="en-ID" sz="1600" dirty="0">
              <a:latin typeface="Gotham Rounded Medium" panose="02000000000000000000" pitchFamily="50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012" y="1092338"/>
            <a:ext cx="1209975" cy="100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4534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=""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BAD41D2-470F-DE24-FA6A-2F117B3375E2}"/>
              </a:ext>
            </a:extLst>
          </p:cNvPr>
          <p:cNvSpPr txBox="1"/>
          <p:nvPr/>
        </p:nvSpPr>
        <p:spPr>
          <a:xfrm>
            <a:off x="1231854" y="1347428"/>
            <a:ext cx="4694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solidFill>
                  <a:srgbClr val="025464"/>
                </a:solidFill>
                <a:latin typeface="Gotham Rounded Medium" panose="02000000000000000000" pitchFamily="50" charset="0"/>
              </a:rPr>
              <a:t>Perancangan</a:t>
            </a:r>
            <a:r>
              <a:rPr lang="en-US" sz="2800" dirty="0" smtClean="0">
                <a:solidFill>
                  <a:srgbClr val="025464"/>
                </a:solidFill>
                <a:latin typeface="Gotham Rounded Medium" panose="02000000000000000000" pitchFamily="50" charset="0"/>
              </a:rPr>
              <a:t> Alat </a:t>
            </a:r>
            <a:r>
              <a:rPr lang="en-US" sz="2800" dirty="0" err="1" smtClean="0">
                <a:solidFill>
                  <a:srgbClr val="025464"/>
                </a:solidFill>
                <a:latin typeface="Gotham Rounded Medium" panose="02000000000000000000" pitchFamily="50" charset="0"/>
              </a:rPr>
              <a:t>dan</a:t>
            </a:r>
            <a:r>
              <a:rPr lang="en-US" sz="2800" dirty="0" smtClean="0">
                <a:solidFill>
                  <a:srgbClr val="025464"/>
                </a:solidFill>
                <a:latin typeface="Gotham Rounded Medium" panose="02000000000000000000" pitchFamily="50" charset="0"/>
              </a:rPr>
              <a:t> </a:t>
            </a:r>
            <a:r>
              <a:rPr lang="en-US" sz="2800" dirty="0" err="1" smtClean="0">
                <a:solidFill>
                  <a:srgbClr val="025464"/>
                </a:solidFill>
                <a:latin typeface="Gotham Rounded Medium" panose="02000000000000000000" pitchFamily="50" charset="0"/>
              </a:rPr>
              <a:t>Sistem</a:t>
            </a:r>
            <a:endParaRPr lang="en-ID" sz="28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pic>
        <p:nvPicPr>
          <p:cNvPr id="41" name="Graphic 40" descr="Home with solid fill">
            <a:hlinkClick r:id="rId2" action="ppaction://hlinksldjump"/>
            <a:extLst>
              <a:ext uri="{FF2B5EF4-FFF2-40B4-BE49-F238E27FC236}">
                <a16:creationId xmlns="" xmlns:a16="http://schemas.microsoft.com/office/drawing/2014/main" id="{F0D60671-C3B0-CBAF-A905-015563E2E5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2262" y="5614750"/>
            <a:ext cx="553434" cy="55343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2995A170-ECAD-2341-0DC4-3D4EE232CC86}"/>
              </a:ext>
            </a:extLst>
          </p:cNvPr>
          <p:cNvSpPr txBox="1"/>
          <p:nvPr/>
        </p:nvSpPr>
        <p:spPr>
          <a:xfrm>
            <a:off x="1262071" y="773422"/>
            <a:ext cx="1810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Gotham Rounded Medium" panose="02000000000000000000" pitchFamily="50" charset="0"/>
              </a:rPr>
              <a:t>BAB III</a:t>
            </a:r>
            <a:endParaRPr lang="en-ID" sz="3200" dirty="0">
              <a:solidFill>
                <a:schemeClr val="bg2">
                  <a:lumMod val="75000"/>
                </a:schemeClr>
              </a:solidFill>
              <a:latin typeface="Gotham Rounded Medium" panose="02000000000000000000" pitchFamily="50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1311" y="3300898"/>
            <a:ext cx="6389212" cy="2958193"/>
          </a:xfrm>
          <a:prstGeom prst="rect">
            <a:avLst/>
          </a:prstGeom>
        </p:spPr>
      </p:pic>
      <p:sp>
        <p:nvSpPr>
          <p:cNvPr id="24" name="Rectangle: Rounded Corners 27">
            <a:extLst>
              <a:ext uri="{FF2B5EF4-FFF2-40B4-BE49-F238E27FC236}">
                <a16:creationId xmlns="" xmlns:a16="http://schemas.microsoft.com/office/drawing/2014/main" id="{06B4235A-7CB7-2664-8057-74D9E6F3E581}"/>
              </a:ext>
            </a:extLst>
          </p:cNvPr>
          <p:cNvSpPr/>
          <p:nvPr/>
        </p:nvSpPr>
        <p:spPr>
          <a:xfrm>
            <a:off x="1396140" y="2045589"/>
            <a:ext cx="9659555" cy="1164401"/>
          </a:xfrm>
          <a:prstGeom prst="roundRect">
            <a:avLst>
              <a:gd name="adj" fmla="val 50000"/>
            </a:avLst>
          </a:prstGeom>
          <a:solidFill>
            <a:srgbClr val="0042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Oval 25">
            <a:extLst>
              <a:ext uri="{FF2B5EF4-FFF2-40B4-BE49-F238E27FC236}">
                <a16:creationId xmlns="" xmlns:a16="http://schemas.microsoft.com/office/drawing/2014/main" id="{6B1817AD-8636-AEF3-D818-4EF6F14796DD}"/>
              </a:ext>
            </a:extLst>
          </p:cNvPr>
          <p:cNvSpPr/>
          <p:nvPr/>
        </p:nvSpPr>
        <p:spPr>
          <a:xfrm>
            <a:off x="1231854" y="2045590"/>
            <a:ext cx="798128" cy="798128"/>
          </a:xfrm>
          <a:prstGeom prst="ellipse">
            <a:avLst/>
          </a:prstGeom>
          <a:solidFill>
            <a:srgbClr val="E8A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7" name="Graphic 43" descr="Connections with solid fill">
            <a:extLst>
              <a:ext uri="{FF2B5EF4-FFF2-40B4-BE49-F238E27FC236}">
                <a16:creationId xmlns="" xmlns:a16="http://schemas.microsoft.com/office/drawing/2014/main" id="{C117B24C-1B56-F508-F20E-59492396433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79861" y="2165006"/>
            <a:ext cx="559296" cy="55929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FA3D86B3-91C5-23E4-E771-89B532EF3BD1}"/>
              </a:ext>
            </a:extLst>
          </p:cNvPr>
          <p:cNvSpPr txBox="1"/>
          <p:nvPr/>
        </p:nvSpPr>
        <p:spPr>
          <a:xfrm>
            <a:off x="2082754" y="2183997"/>
            <a:ext cx="87884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 smtClean="0">
                <a:solidFill>
                  <a:schemeClr val="bg1"/>
                </a:solidFill>
                <a:latin typeface="Gotham Rounded Book" pitchFamily="50" charset="0"/>
              </a:rPr>
              <a:t>User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dapat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memantau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hasil emisi gas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buang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secara real-time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melalui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aplikasi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Blynk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di smartphone. Tampilan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indikator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warna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yang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intuitif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memudahkan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pengguna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untuk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memahami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tingkat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emisi gas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buang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(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hijau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untuk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emisi normal,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kuning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untuk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emisi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berlebih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dan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merah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untuk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emisi berbahaya). Alat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ini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dapat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dioperasikan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menggunakan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baterai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,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sehingga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tidak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memerlukan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sumber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listrik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eksternal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.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Metode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Fuzzy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Mamdani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memungkinkan alat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untuk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memproses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data emisi gas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buang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secara lebih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cerdas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dan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akurat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, dengan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mempertimbangkan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berbagai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faktor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yang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dapat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memengaruhi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 hasil </a:t>
            </a:r>
            <a:r>
              <a:rPr lang="en-US" sz="1400" dirty="0" err="1">
                <a:solidFill>
                  <a:schemeClr val="bg1"/>
                </a:solidFill>
                <a:latin typeface="Gotham Rounded Book" pitchFamily="50" charset="0"/>
              </a:rPr>
              <a:t>pengukuran</a:t>
            </a:r>
            <a:r>
              <a:rPr lang="en-US" sz="1400" dirty="0">
                <a:solidFill>
                  <a:schemeClr val="bg1"/>
                </a:solidFill>
                <a:latin typeface="Gotham Rounded Book" pitchFamily="50" charset="0"/>
              </a:rPr>
              <a:t>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="" xmlns:a16="http://schemas.microsoft.com/office/drawing/2014/main" id="{AFE6A7F0-3254-67A2-3E1A-8D18F7DFA0C0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10502262" y="482600"/>
            <a:ext cx="976234" cy="83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3678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=""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BAD41D2-470F-DE24-FA6A-2F117B3375E2}"/>
              </a:ext>
            </a:extLst>
          </p:cNvPr>
          <p:cNvSpPr txBox="1"/>
          <p:nvPr/>
        </p:nvSpPr>
        <p:spPr>
          <a:xfrm>
            <a:off x="1262071" y="1056606"/>
            <a:ext cx="46949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>
                <a:solidFill>
                  <a:srgbClr val="025464"/>
                </a:solidFill>
                <a:latin typeface="Gotham Rounded Medium" panose="02000000000000000000" pitchFamily="50" charset="0"/>
              </a:rPr>
              <a:t>Perancangan</a:t>
            </a:r>
            <a:r>
              <a:rPr lang="en-US" sz="2800" dirty="0" smtClean="0">
                <a:solidFill>
                  <a:srgbClr val="025464"/>
                </a:solidFill>
                <a:latin typeface="Gotham Rounded Medium" panose="02000000000000000000" pitchFamily="50" charset="0"/>
              </a:rPr>
              <a:t> Alat </a:t>
            </a:r>
            <a:r>
              <a:rPr lang="en-US" sz="2800" dirty="0" err="1" smtClean="0">
                <a:solidFill>
                  <a:srgbClr val="025464"/>
                </a:solidFill>
                <a:latin typeface="Gotham Rounded Medium" panose="02000000000000000000" pitchFamily="50" charset="0"/>
              </a:rPr>
              <a:t>dan</a:t>
            </a:r>
            <a:r>
              <a:rPr lang="en-US" sz="2800" dirty="0" smtClean="0">
                <a:solidFill>
                  <a:srgbClr val="025464"/>
                </a:solidFill>
                <a:latin typeface="Gotham Rounded Medium" panose="02000000000000000000" pitchFamily="50" charset="0"/>
              </a:rPr>
              <a:t> </a:t>
            </a:r>
            <a:r>
              <a:rPr lang="en-US" sz="2800" dirty="0" err="1" smtClean="0">
                <a:solidFill>
                  <a:srgbClr val="025464"/>
                </a:solidFill>
                <a:latin typeface="Gotham Rounded Medium" panose="02000000000000000000" pitchFamily="50" charset="0"/>
              </a:rPr>
              <a:t>Sistem</a:t>
            </a:r>
            <a:endParaRPr lang="en-ID" sz="28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pic>
        <p:nvPicPr>
          <p:cNvPr id="41" name="Graphic 40" descr="Home with solid fill">
            <a:hlinkClick r:id="rId2" action="ppaction://hlinksldjump"/>
            <a:extLst>
              <a:ext uri="{FF2B5EF4-FFF2-40B4-BE49-F238E27FC236}">
                <a16:creationId xmlns="" xmlns:a16="http://schemas.microsoft.com/office/drawing/2014/main" id="{F0D60671-C3B0-CBAF-A905-015563E2E5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2262" y="5614750"/>
            <a:ext cx="553434" cy="55343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2995A170-ECAD-2341-0DC4-3D4EE232CC86}"/>
              </a:ext>
            </a:extLst>
          </p:cNvPr>
          <p:cNvSpPr txBox="1"/>
          <p:nvPr/>
        </p:nvSpPr>
        <p:spPr>
          <a:xfrm>
            <a:off x="1292288" y="482600"/>
            <a:ext cx="1810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Gotham Rounded Medium" panose="02000000000000000000" pitchFamily="50" charset="0"/>
              </a:rPr>
              <a:t>BAB III</a:t>
            </a:r>
            <a:endParaRPr lang="en-ID" sz="3200" dirty="0">
              <a:solidFill>
                <a:schemeClr val="bg2">
                  <a:lumMod val="75000"/>
                </a:schemeClr>
              </a:solidFill>
              <a:latin typeface="Gotham Rounded Medium" panose="02000000000000000000" pitchFamily="50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6973" y="482600"/>
            <a:ext cx="4578407" cy="57885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6171" y="1547503"/>
            <a:ext cx="2651818" cy="51003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AFE6A7F0-3254-67A2-3E1A-8D18F7DFA0C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502262" y="482600"/>
            <a:ext cx="976234" cy="83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88304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=""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678F4D7-6000-3FF5-DAE7-3EDD4E0D7E98}"/>
              </a:ext>
            </a:extLst>
          </p:cNvPr>
          <p:cNvSpPr txBox="1"/>
          <p:nvPr/>
        </p:nvSpPr>
        <p:spPr>
          <a:xfrm>
            <a:off x="3240282" y="2096125"/>
            <a:ext cx="545743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BAB IV</a:t>
            </a:r>
            <a:endParaRPr lang="en-ID" sz="115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11" name="Rectangle: Rounded Corners 10">
            <a:hlinkClick r:id="" action="ppaction://hlinkshowjump?jump=nextslide"/>
            <a:extLst>
              <a:ext uri="{FF2B5EF4-FFF2-40B4-BE49-F238E27FC236}">
                <a16:creationId xmlns="" xmlns:a16="http://schemas.microsoft.com/office/drawing/2014/main" id="{A053D7D1-6394-2720-52C2-3E4347007BE6}"/>
              </a:ext>
            </a:extLst>
          </p:cNvPr>
          <p:cNvSpPr/>
          <p:nvPr/>
        </p:nvSpPr>
        <p:spPr>
          <a:xfrm>
            <a:off x="4679950" y="4521200"/>
            <a:ext cx="2832100" cy="495300"/>
          </a:xfrm>
          <a:prstGeom prst="roundRect">
            <a:avLst>
              <a:gd name="adj" fmla="val 50000"/>
            </a:avLst>
          </a:prstGeom>
          <a:solidFill>
            <a:srgbClr val="E8A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Rounded Medium" panose="02000000000000000000" pitchFamily="50" charset="0"/>
              </a:rPr>
              <a:t>Hasil </a:t>
            </a:r>
            <a:r>
              <a:rPr lang="en-US" sz="1600" dirty="0" err="1">
                <a:latin typeface="Gotham Rounded Medium" panose="02000000000000000000" pitchFamily="50" charset="0"/>
              </a:rPr>
              <a:t>dan</a:t>
            </a:r>
            <a:r>
              <a:rPr lang="en-US" sz="1600" dirty="0">
                <a:latin typeface="Gotham Rounded Medium" panose="02000000000000000000" pitchFamily="50" charset="0"/>
              </a:rPr>
              <a:t> </a:t>
            </a:r>
            <a:r>
              <a:rPr lang="en-US" sz="1600" dirty="0" err="1" smtClean="0">
                <a:latin typeface="Gotham Rounded Medium" panose="02000000000000000000" pitchFamily="50" charset="0"/>
              </a:rPr>
              <a:t>Pengujian</a:t>
            </a:r>
            <a:endParaRPr lang="en-ID" sz="1600" dirty="0">
              <a:latin typeface="Gotham Rounded Medium" panose="02000000000000000000" pitchFamily="50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012" y="1092338"/>
            <a:ext cx="1209975" cy="100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7604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=""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BAD41D2-470F-DE24-FA6A-2F117B3375E2}"/>
              </a:ext>
            </a:extLst>
          </p:cNvPr>
          <p:cNvSpPr txBox="1"/>
          <p:nvPr/>
        </p:nvSpPr>
        <p:spPr>
          <a:xfrm>
            <a:off x="1231854" y="1347428"/>
            <a:ext cx="5615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Hasil </a:t>
            </a:r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dan</a:t>
            </a:r>
            <a:r>
              <a:rPr lang="en-US" sz="36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 </a:t>
            </a:r>
            <a:r>
              <a:rPr lang="en-US" sz="3600" dirty="0" err="1" smtClean="0">
                <a:solidFill>
                  <a:srgbClr val="025464"/>
                </a:solidFill>
                <a:latin typeface="Gotham Rounded Medium" panose="02000000000000000000" pitchFamily="50" charset="0"/>
              </a:rPr>
              <a:t>Pengujian</a:t>
            </a:r>
            <a:endParaRPr lang="en-ID" sz="36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pic>
        <p:nvPicPr>
          <p:cNvPr id="41" name="Graphic 40" descr="Home with solid fill">
            <a:hlinkClick r:id="rId2" action="ppaction://hlinksldjump"/>
            <a:extLst>
              <a:ext uri="{FF2B5EF4-FFF2-40B4-BE49-F238E27FC236}">
                <a16:creationId xmlns="" xmlns:a16="http://schemas.microsoft.com/office/drawing/2014/main" id="{F0D60671-C3B0-CBAF-A905-015563E2E5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2262" y="5614750"/>
            <a:ext cx="553434" cy="55343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2995A170-ECAD-2341-0DC4-3D4EE232CC86}"/>
              </a:ext>
            </a:extLst>
          </p:cNvPr>
          <p:cNvSpPr txBox="1"/>
          <p:nvPr/>
        </p:nvSpPr>
        <p:spPr>
          <a:xfrm>
            <a:off x="1262071" y="773422"/>
            <a:ext cx="1810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Gotham Rounded Medium" panose="02000000000000000000" pitchFamily="50" charset="0"/>
              </a:rPr>
              <a:t>BAB IV</a:t>
            </a:r>
            <a:endParaRPr lang="en-ID" sz="3200" dirty="0">
              <a:solidFill>
                <a:schemeClr val="bg2">
                  <a:lumMod val="75000"/>
                </a:schemeClr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949846F-19E3-3AFD-B626-66E093AC343B}"/>
              </a:ext>
            </a:extLst>
          </p:cNvPr>
          <p:cNvSpPr txBox="1"/>
          <p:nvPr/>
        </p:nvSpPr>
        <p:spPr>
          <a:xfrm>
            <a:off x="1236932" y="5689478"/>
            <a:ext cx="824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otham Rounded Book" pitchFamily="50" charset="0"/>
              </a:rPr>
              <a:t>Page</a:t>
            </a:r>
            <a:endParaRPr lang="en-ID" sz="2000" dirty="0">
              <a:latin typeface="Gotham Rounded Book" pitchFamily="50" charset="0"/>
            </a:endParaRPr>
          </a:p>
        </p:txBody>
      </p:sp>
      <p:sp>
        <p:nvSpPr>
          <p:cNvPr id="6" name="TextBox 5">
            <a:hlinkClick r:id="rId5" action="ppaction://hlinksldjump"/>
            <a:extLst>
              <a:ext uri="{FF2B5EF4-FFF2-40B4-BE49-F238E27FC236}">
                <a16:creationId xmlns="" xmlns:a16="http://schemas.microsoft.com/office/drawing/2014/main" id="{AD43C4D8-DD90-38D7-DF51-E6C828587131}"/>
              </a:ext>
            </a:extLst>
          </p:cNvPr>
          <p:cNvSpPr txBox="1"/>
          <p:nvPr/>
        </p:nvSpPr>
        <p:spPr>
          <a:xfrm>
            <a:off x="2037925" y="5689478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25464"/>
                </a:solidFill>
                <a:latin typeface="Gotham Rounded Bold" pitchFamily="50" charset="0"/>
              </a:rPr>
              <a:t>1</a:t>
            </a:r>
            <a:endParaRPr lang="en-ID" sz="2000" dirty="0">
              <a:solidFill>
                <a:srgbClr val="025464"/>
              </a:solidFill>
              <a:latin typeface="Gotham Rounded Bold" pitchFamily="50" charset="0"/>
            </a:endParaRPr>
          </a:p>
        </p:txBody>
      </p:sp>
      <p:sp>
        <p:nvSpPr>
          <p:cNvPr id="7" name="TextBox 6">
            <a:hlinkClick r:id="rId6" action="ppaction://hlinksldjump"/>
            <a:extLst>
              <a:ext uri="{FF2B5EF4-FFF2-40B4-BE49-F238E27FC236}">
                <a16:creationId xmlns="" xmlns:a16="http://schemas.microsoft.com/office/drawing/2014/main" id="{0DF1C689-D7DB-BDC2-3B3F-BD2CEE00D32D}"/>
              </a:ext>
            </a:extLst>
          </p:cNvPr>
          <p:cNvSpPr txBox="1"/>
          <p:nvPr/>
        </p:nvSpPr>
        <p:spPr>
          <a:xfrm>
            <a:off x="2339611" y="5702178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2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9" name="TextBox 8">
            <a:hlinkClick r:id="rId7" action="ppaction://hlinksldjump"/>
            <a:extLst>
              <a:ext uri="{FF2B5EF4-FFF2-40B4-BE49-F238E27FC236}">
                <a16:creationId xmlns="" xmlns:a16="http://schemas.microsoft.com/office/drawing/2014/main" id="{228AA685-6DFA-0914-2CC1-59585B623AD6}"/>
              </a:ext>
            </a:extLst>
          </p:cNvPr>
          <p:cNvSpPr txBox="1"/>
          <p:nvPr/>
        </p:nvSpPr>
        <p:spPr>
          <a:xfrm>
            <a:off x="2669380" y="570217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3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523819"/>
              </p:ext>
            </p:extLst>
          </p:nvPr>
        </p:nvGraphicFramePr>
        <p:xfrm>
          <a:off x="1031401" y="2458033"/>
          <a:ext cx="5033645" cy="3291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37005"/>
                <a:gridCol w="1620520"/>
                <a:gridCol w="1259840"/>
                <a:gridCol w="71628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 dirty="0" err="1">
                          <a:effectLst/>
                        </a:rPr>
                        <a:t>Waktu</a:t>
                      </a:r>
                      <a:endParaRPr lang="en-ID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Konsentrasi CO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Konsentrasi HC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AQI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1760" algn="l"/>
                        </a:tabLst>
                      </a:pPr>
                      <a:r>
                        <a:rPr lang="en-ID" sz="1200">
                          <a:effectLst/>
                        </a:rPr>
                        <a:t>07/27/24 - 21:59:00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909 ppm = 0,090%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180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283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07/27/24 - 22:00:00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948 ppm = 0,094%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191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293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07/27/24 - 22:01:00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961 ppm = 0,096%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195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296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07/27/24 - 22:02:00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955 ppm = 0,095%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196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295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07/27/24 - 22:03:00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955 ppm = 0,095%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200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296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 dirty="0">
                          <a:effectLst/>
                        </a:rPr>
                        <a:t>07/27/24 - 22:04:00</a:t>
                      </a:r>
                      <a:endParaRPr lang="en-ID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940 ppm = 0,094%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198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292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07/27/24 - 22:05:00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915 ppm = 0,091%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192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286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07/27/24 - 22:06:00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906 ppm = 0,090%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189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283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07/27/24 - 22:07:00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897 ppm = 0,089%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185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281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07/27/24 - 22:08:00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892 ppm = 0,089%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181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279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Rata-rata: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927,8 ppm = 0,092%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190,1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 dirty="0">
                          <a:effectLst/>
                        </a:rPr>
                        <a:t>288,4</a:t>
                      </a:r>
                      <a:endParaRPr lang="en-ID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-2317107" y="205181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2475" algn="l"/>
              </a:tabLst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12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abel</a:t>
            </a:r>
            <a:r>
              <a:rPr kumimoji="0" lang="en-US" altLang="en-US" sz="12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4. </a:t>
            </a:r>
            <a:r>
              <a:rPr kumimoji="0" lang="en-US" altLang="en-US" sz="1200" b="0" i="0" u="none" strike="noStrike" cap="none" normalizeH="0" baseline="0" dirty="0" smtClean="0" bmk="_Toc173090677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Hasil </a:t>
            </a:r>
            <a:r>
              <a:rPr kumimoji="0" lang="en-US" altLang="en-US" sz="1200" b="0" i="0" u="none" strike="noStrike" cap="none" normalizeH="0" baseline="0" dirty="0" err="1" smtClean="0" bmk="_Toc173090677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Pengujian</a:t>
            </a:r>
            <a:r>
              <a:rPr kumimoji="0" lang="en-US" altLang="en-US" sz="1200" b="0" i="0" u="none" strike="noStrike" cap="none" normalizeH="0" baseline="0" dirty="0" smtClean="0" bmk="_Toc173090677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dengan menggunakan Probe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485647"/>
              </p:ext>
            </p:extLst>
          </p:nvPr>
        </p:nvGraphicFramePr>
        <p:xfrm>
          <a:off x="6114011" y="2458033"/>
          <a:ext cx="5033645" cy="3291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37005"/>
                <a:gridCol w="1620520"/>
                <a:gridCol w="1259840"/>
                <a:gridCol w="716280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 dirty="0" err="1">
                          <a:effectLst/>
                        </a:rPr>
                        <a:t>Waktu</a:t>
                      </a:r>
                      <a:endParaRPr lang="en-ID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Konsentrasi CO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Konsentrasi HC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AQI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11760" algn="l"/>
                        </a:tabLst>
                      </a:pPr>
                      <a:r>
                        <a:rPr lang="en-ID" sz="1200">
                          <a:effectLst/>
                        </a:rPr>
                        <a:t>07/27/24 - 22:46:00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990 ppm = 0,090%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178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301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07/27/24 - 22:47:00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978 ppm = 0,097%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176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299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07/27/24 - 22:48:00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956 ppm = 0,095%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173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294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07/27/24 - 22:49:00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925 ppm = 0,092%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163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287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 dirty="0">
                          <a:effectLst/>
                        </a:rPr>
                        <a:t>07/27/24 - 22:50:00</a:t>
                      </a:r>
                      <a:endParaRPr lang="en-ID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902 ppm = 0,090%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155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282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07/27/24 - 22:51:00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892 ppm = 0,089%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151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279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07/27/24 - 22:52:00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887 ppm = 0,088%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149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278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07/27/24 - 22:53:00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882 ppm = 0,088%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146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277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07/27/24 - 22:54:00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874 ppm = 0,087%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139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275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07/27/24 - 22:55:00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875 ppm = 0,087%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141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275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D" sz="1200">
                          <a:effectLst/>
                        </a:rPr>
                        <a:t>Rata-rata: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916,1 ppm = 0,091%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157,1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 dirty="0">
                          <a:effectLst/>
                        </a:rPr>
                        <a:t>284,7</a:t>
                      </a:r>
                      <a:endParaRPr lang="en-ID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2534833" y="205108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2475" algn="l"/>
              </a:tabLst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12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abel</a:t>
            </a:r>
            <a:r>
              <a:rPr kumimoji="0" lang="en-US" altLang="en-US" sz="12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4. </a:t>
            </a:r>
            <a:r>
              <a:rPr kumimoji="0" lang="en-US" altLang="en-US" sz="1200" b="0" i="0" u="none" strike="noStrike" cap="none" normalizeH="0" baseline="0" dirty="0" smtClean="0" bmk="_Toc173090678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 Hasil </a:t>
            </a:r>
            <a:r>
              <a:rPr kumimoji="0" lang="en-US" altLang="en-US" sz="1200" b="0" i="0" u="none" strike="noStrike" cap="none" normalizeH="0" baseline="0" dirty="0" err="1" smtClean="0" bmk="_Toc173090678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Pengujian</a:t>
            </a:r>
            <a:r>
              <a:rPr kumimoji="0" lang="en-US" altLang="en-US" sz="1200" b="0" i="0" u="none" strike="noStrike" cap="none" normalizeH="0" baseline="0" dirty="0" smtClean="0" bmk="_Toc173090678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 bmk="_Toc173090678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tanpa</a:t>
            </a:r>
            <a:r>
              <a:rPr kumimoji="0" lang="en-US" altLang="en-US" sz="1200" b="0" i="0" u="none" strike="noStrike" cap="none" normalizeH="0" baseline="0" dirty="0" smtClean="0" bmk="_Toc173090678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menggunakan Probe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AFE6A7F0-3254-67A2-3E1A-8D18F7DFA0C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290862" y="688544"/>
            <a:ext cx="976234" cy="83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31515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=""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BAD41D2-470F-DE24-FA6A-2F117B3375E2}"/>
              </a:ext>
            </a:extLst>
          </p:cNvPr>
          <p:cNvSpPr txBox="1"/>
          <p:nvPr/>
        </p:nvSpPr>
        <p:spPr>
          <a:xfrm>
            <a:off x="1231854" y="1347428"/>
            <a:ext cx="5615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Hasil </a:t>
            </a:r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dan</a:t>
            </a:r>
            <a:r>
              <a:rPr lang="en-US" sz="36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 </a:t>
            </a:r>
            <a:r>
              <a:rPr lang="en-US" sz="3600" dirty="0" err="1" smtClean="0">
                <a:solidFill>
                  <a:srgbClr val="025464"/>
                </a:solidFill>
                <a:latin typeface="Gotham Rounded Medium" panose="02000000000000000000" pitchFamily="50" charset="0"/>
              </a:rPr>
              <a:t>Pengujian</a:t>
            </a:r>
            <a:endParaRPr lang="en-ID" sz="36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pic>
        <p:nvPicPr>
          <p:cNvPr id="41" name="Graphic 40" descr="Home with solid fill">
            <a:hlinkClick r:id="rId2" action="ppaction://hlinksldjump"/>
            <a:extLst>
              <a:ext uri="{FF2B5EF4-FFF2-40B4-BE49-F238E27FC236}">
                <a16:creationId xmlns="" xmlns:a16="http://schemas.microsoft.com/office/drawing/2014/main" id="{F0D60671-C3B0-CBAF-A905-015563E2E5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2262" y="5614750"/>
            <a:ext cx="553434" cy="55343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2995A170-ECAD-2341-0DC4-3D4EE232CC86}"/>
              </a:ext>
            </a:extLst>
          </p:cNvPr>
          <p:cNvSpPr txBox="1"/>
          <p:nvPr/>
        </p:nvSpPr>
        <p:spPr>
          <a:xfrm>
            <a:off x="1262071" y="773422"/>
            <a:ext cx="1810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Gotham Rounded Medium" panose="02000000000000000000" pitchFamily="50" charset="0"/>
              </a:rPr>
              <a:t>BAB IV</a:t>
            </a:r>
            <a:endParaRPr lang="en-ID" sz="3200" dirty="0">
              <a:solidFill>
                <a:schemeClr val="bg2">
                  <a:lumMod val="75000"/>
                </a:schemeClr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ECB171B-5DE2-11E4-D670-556EE18D6D09}"/>
              </a:ext>
            </a:extLst>
          </p:cNvPr>
          <p:cNvSpPr txBox="1"/>
          <p:nvPr/>
        </p:nvSpPr>
        <p:spPr>
          <a:xfrm>
            <a:off x="1316855" y="2355625"/>
            <a:ext cx="5054916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Gotham Rounded Book" pitchFamily="50" charset="0"/>
              </a:rPr>
              <a:t>%error CO = (((</a:t>
            </a:r>
            <a:r>
              <a:rPr lang="en-US" dirty="0" err="1">
                <a:latin typeface="Gotham Rounded Book" pitchFamily="50" charset="0"/>
              </a:rPr>
              <a:t>Nilai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Sebelum-Nilai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Sesudah</a:t>
            </a:r>
            <a:r>
              <a:rPr lang="en-US" dirty="0">
                <a:latin typeface="Gotham Rounded Book" pitchFamily="50" charset="0"/>
              </a:rPr>
              <a:t>))/(</a:t>
            </a:r>
            <a:r>
              <a:rPr lang="en-US" dirty="0" err="1">
                <a:latin typeface="Gotham Rounded Book" pitchFamily="50" charset="0"/>
              </a:rPr>
              <a:t>Nilai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Sesudah</a:t>
            </a:r>
            <a:r>
              <a:rPr lang="en-US" dirty="0">
                <a:latin typeface="Gotham Rounded Book" pitchFamily="50" charset="0"/>
              </a:rPr>
              <a:t>))x100%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Gotham Rounded Book" pitchFamily="50" charset="0"/>
              </a:rPr>
              <a:t>%error CO = (((916,1 - 927,8))/916,1)x100%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Gotham Rounded Book" pitchFamily="50" charset="0"/>
              </a:rPr>
              <a:t>%error CO = -0,01%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Gotham Rounded Book" pitchFamily="50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Gotham Rounded Book" pitchFamily="50" charset="0"/>
              </a:rPr>
              <a:t>%error HC = (((</a:t>
            </a:r>
            <a:r>
              <a:rPr lang="en-US" dirty="0" err="1">
                <a:latin typeface="Gotham Rounded Book" pitchFamily="50" charset="0"/>
              </a:rPr>
              <a:t>Nilai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Sebelum-Nilai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Sesudah</a:t>
            </a:r>
            <a:r>
              <a:rPr lang="en-US" dirty="0">
                <a:latin typeface="Gotham Rounded Book" pitchFamily="50" charset="0"/>
              </a:rPr>
              <a:t>))/(</a:t>
            </a:r>
            <a:r>
              <a:rPr lang="en-US" dirty="0" err="1">
                <a:latin typeface="Gotham Rounded Book" pitchFamily="50" charset="0"/>
              </a:rPr>
              <a:t>Nilai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Sesudah</a:t>
            </a:r>
            <a:r>
              <a:rPr lang="en-US" dirty="0">
                <a:latin typeface="Gotham Rounded Book" pitchFamily="50" charset="0"/>
              </a:rPr>
              <a:t>))x100%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Gotham Rounded Book" pitchFamily="50" charset="0"/>
              </a:rPr>
              <a:t>%error HC = (((157,1 - 190,1))/157,1)x100%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Gotham Rounded Book" pitchFamily="50" charset="0"/>
              </a:rPr>
              <a:t>%error HC = -0,21%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D13B1CF6-5F05-BE88-1907-2DE3F91CFBFC}"/>
              </a:ext>
            </a:extLst>
          </p:cNvPr>
          <p:cNvSpPr txBox="1"/>
          <p:nvPr/>
        </p:nvSpPr>
        <p:spPr>
          <a:xfrm>
            <a:off x="1236932" y="5689478"/>
            <a:ext cx="824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otham Rounded Book" pitchFamily="50" charset="0"/>
              </a:rPr>
              <a:t>Page</a:t>
            </a:r>
            <a:endParaRPr lang="en-ID" sz="2000" dirty="0">
              <a:latin typeface="Gotham Rounded Book" pitchFamily="50" charset="0"/>
            </a:endParaRPr>
          </a:p>
        </p:txBody>
      </p:sp>
      <p:sp>
        <p:nvSpPr>
          <p:cNvPr id="10" name="TextBox 9">
            <a:hlinkClick r:id="rId5" action="ppaction://hlinksldjump"/>
            <a:extLst>
              <a:ext uri="{FF2B5EF4-FFF2-40B4-BE49-F238E27FC236}">
                <a16:creationId xmlns="" xmlns:a16="http://schemas.microsoft.com/office/drawing/2014/main" id="{24A8ECFD-5201-AC34-FC6E-6DAAE95C7240}"/>
              </a:ext>
            </a:extLst>
          </p:cNvPr>
          <p:cNvSpPr txBox="1"/>
          <p:nvPr/>
        </p:nvSpPr>
        <p:spPr>
          <a:xfrm>
            <a:off x="2037925" y="5689478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1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11" name="TextBox 10">
            <a:hlinkClick r:id="rId6" action="ppaction://hlinksldjump"/>
            <a:extLst>
              <a:ext uri="{FF2B5EF4-FFF2-40B4-BE49-F238E27FC236}">
                <a16:creationId xmlns="" xmlns:a16="http://schemas.microsoft.com/office/drawing/2014/main" id="{5EEB744B-6BB0-E9B5-1327-B4CA945AC9BD}"/>
              </a:ext>
            </a:extLst>
          </p:cNvPr>
          <p:cNvSpPr txBox="1"/>
          <p:nvPr/>
        </p:nvSpPr>
        <p:spPr>
          <a:xfrm>
            <a:off x="2339611" y="5702178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25464"/>
                </a:solidFill>
                <a:latin typeface="Gotham Rounded Bold" pitchFamily="50" charset="0"/>
              </a:rPr>
              <a:t>2</a:t>
            </a:r>
            <a:endParaRPr lang="en-ID" sz="2000" dirty="0">
              <a:solidFill>
                <a:srgbClr val="025464"/>
              </a:solidFill>
              <a:latin typeface="Gotham Rounded Bold" pitchFamily="50" charset="0"/>
            </a:endParaRPr>
          </a:p>
        </p:txBody>
      </p:sp>
      <p:sp>
        <p:nvSpPr>
          <p:cNvPr id="12" name="TextBox 11">
            <a:hlinkClick r:id="rId7" action="ppaction://hlinksldjump"/>
            <a:extLst>
              <a:ext uri="{FF2B5EF4-FFF2-40B4-BE49-F238E27FC236}">
                <a16:creationId xmlns="" xmlns:a16="http://schemas.microsoft.com/office/drawing/2014/main" id="{C306FA70-5D5A-8A98-1B93-48A33E1A1FEA}"/>
              </a:ext>
            </a:extLst>
          </p:cNvPr>
          <p:cNvSpPr txBox="1"/>
          <p:nvPr/>
        </p:nvSpPr>
        <p:spPr>
          <a:xfrm>
            <a:off x="2669380" y="570217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3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ECB171B-5DE2-11E4-D670-556EE18D6D09}"/>
              </a:ext>
            </a:extLst>
          </p:cNvPr>
          <p:cNvSpPr txBox="1"/>
          <p:nvPr/>
        </p:nvSpPr>
        <p:spPr>
          <a:xfrm>
            <a:off x="6657867" y="2012584"/>
            <a:ext cx="439782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Gotham Rounded Book" pitchFamily="50" charset="0"/>
              </a:rPr>
              <a:t>Penggunaan probe </a:t>
            </a:r>
            <a:r>
              <a:rPr lang="en-US" dirty="0" err="1">
                <a:latin typeface="Gotham Rounded Book" pitchFamily="50" charset="0"/>
              </a:rPr>
              <a:t>sangat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penting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dalam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pengukuran</a:t>
            </a:r>
            <a:r>
              <a:rPr lang="en-US" dirty="0">
                <a:latin typeface="Gotham Rounded Book" pitchFamily="50" charset="0"/>
              </a:rPr>
              <a:t> gas CO </a:t>
            </a:r>
            <a:r>
              <a:rPr lang="en-US" dirty="0" err="1">
                <a:latin typeface="Gotham Rounded Book" pitchFamily="50" charset="0"/>
              </a:rPr>
              <a:t>dan</a:t>
            </a:r>
            <a:r>
              <a:rPr lang="en-US" dirty="0">
                <a:latin typeface="Gotham Rounded Book" pitchFamily="50" charset="0"/>
              </a:rPr>
              <a:t> HC </a:t>
            </a:r>
            <a:r>
              <a:rPr lang="en-US" dirty="0" err="1">
                <a:latin typeface="Gotham Rounded Book" pitchFamily="50" charset="0"/>
              </a:rPr>
              <a:t>karena</a:t>
            </a:r>
            <a:r>
              <a:rPr lang="en-US" dirty="0">
                <a:latin typeface="Gotham Rounded Book" pitchFamily="50" charset="0"/>
              </a:rPr>
              <a:t> probe memungkinkan </a:t>
            </a:r>
            <a:r>
              <a:rPr lang="en-US" dirty="0" err="1">
                <a:latin typeface="Gotham Rounded Book" pitchFamily="50" charset="0"/>
              </a:rPr>
              <a:t>pengambilan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sampel</a:t>
            </a:r>
            <a:r>
              <a:rPr lang="en-US" dirty="0">
                <a:latin typeface="Gotham Rounded Book" pitchFamily="50" charset="0"/>
              </a:rPr>
              <a:t> yang </a:t>
            </a:r>
            <a:r>
              <a:rPr lang="en-US" dirty="0" err="1">
                <a:latin typeface="Gotham Rounded Book" pitchFamily="50" charset="0"/>
              </a:rPr>
              <a:t>akurat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dan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konversi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sinyal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menjadi</a:t>
            </a:r>
            <a:r>
              <a:rPr lang="en-US" dirty="0">
                <a:latin typeface="Gotham Rounded Book" pitchFamily="50" charset="0"/>
              </a:rPr>
              <a:t> data yang </a:t>
            </a:r>
            <a:r>
              <a:rPr lang="en-US" dirty="0" err="1">
                <a:latin typeface="Gotham Rounded Book" pitchFamily="50" charset="0"/>
              </a:rPr>
              <a:t>dapat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diinterpretasikan</a:t>
            </a:r>
            <a:r>
              <a:rPr lang="en-US" dirty="0">
                <a:latin typeface="Gotham Rounded Book" pitchFamily="50" charset="0"/>
              </a:rPr>
              <a:t>, </a:t>
            </a:r>
            <a:r>
              <a:rPr lang="en-US" dirty="0" err="1">
                <a:latin typeface="Gotham Rounded Book" pitchFamily="50" charset="0"/>
              </a:rPr>
              <a:t>dan</a:t>
            </a:r>
            <a:r>
              <a:rPr lang="en-US" dirty="0">
                <a:latin typeface="Gotham Rounded Book" pitchFamily="50" charset="0"/>
              </a:rPr>
              <a:t> juga </a:t>
            </a:r>
            <a:r>
              <a:rPr lang="en-US" dirty="0" err="1">
                <a:latin typeface="Gotham Rounded Book" pitchFamily="50" charset="0"/>
              </a:rPr>
              <a:t>karena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sifatnya</a:t>
            </a:r>
            <a:r>
              <a:rPr lang="en-US" dirty="0">
                <a:latin typeface="Gotham Rounded Book" pitchFamily="50" charset="0"/>
              </a:rPr>
              <a:t> yang </a:t>
            </a:r>
            <a:r>
              <a:rPr lang="en-US" dirty="0" err="1">
                <a:latin typeface="Gotham Rounded Book" pitchFamily="50" charset="0"/>
              </a:rPr>
              <a:t>tahan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suhu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tinggi</a:t>
            </a:r>
            <a:r>
              <a:rPr lang="en-US" dirty="0">
                <a:latin typeface="Gotham Rounded Book" pitchFamily="50" charset="0"/>
              </a:rPr>
              <a:t>, </a:t>
            </a:r>
            <a:r>
              <a:rPr lang="en-US" dirty="0" err="1">
                <a:latin typeface="Gotham Rounded Book" pitchFamily="50" charset="0"/>
              </a:rPr>
              <a:t>tahan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korosi</a:t>
            </a:r>
            <a:r>
              <a:rPr lang="en-US" dirty="0">
                <a:latin typeface="Gotham Rounded Book" pitchFamily="50" charset="0"/>
              </a:rPr>
              <a:t>, </a:t>
            </a:r>
            <a:r>
              <a:rPr lang="en-US" dirty="0" err="1">
                <a:latin typeface="Gotham Rounded Book" pitchFamily="50" charset="0"/>
              </a:rPr>
              <a:t>memiliki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konduktivitas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termal</a:t>
            </a:r>
            <a:r>
              <a:rPr lang="en-US" dirty="0">
                <a:latin typeface="Gotham Rounded Book" pitchFamily="50" charset="0"/>
              </a:rPr>
              <a:t> yang </a:t>
            </a:r>
            <a:r>
              <a:rPr lang="en-US" dirty="0" err="1">
                <a:latin typeface="Gotham Rounded Book" pitchFamily="50" charset="0"/>
              </a:rPr>
              <a:t>baik</a:t>
            </a:r>
            <a:r>
              <a:rPr lang="en-US" dirty="0">
                <a:latin typeface="Gotham Rounded Book" pitchFamily="50" charset="0"/>
              </a:rPr>
              <a:t>, </a:t>
            </a:r>
            <a:r>
              <a:rPr lang="en-US" dirty="0" err="1">
                <a:latin typeface="Gotham Rounded Book" pitchFamily="50" charset="0"/>
              </a:rPr>
              <a:t>dan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kekuatan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mekanik</a:t>
            </a:r>
            <a:r>
              <a:rPr lang="en-US" dirty="0">
                <a:latin typeface="Gotham Rounded Book" pitchFamily="50" charset="0"/>
              </a:rPr>
              <a:t> yang </a:t>
            </a:r>
            <a:r>
              <a:rPr lang="en-US" dirty="0" err="1">
                <a:latin typeface="Gotham Rounded Book" pitchFamily="50" charset="0"/>
              </a:rPr>
              <a:t>tinggi</a:t>
            </a:r>
            <a:r>
              <a:rPr lang="en-US" dirty="0">
                <a:latin typeface="Gotham Rounded Book" pitchFamily="50" charset="0"/>
              </a:rPr>
              <a:t>. Probe metal </a:t>
            </a:r>
            <a:r>
              <a:rPr lang="en-US" dirty="0" err="1">
                <a:latin typeface="Gotham Rounded Book" pitchFamily="50" charset="0"/>
              </a:rPr>
              <a:t>memastikan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akurasi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dan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keandalan</a:t>
            </a:r>
            <a:r>
              <a:rPr lang="en-US" dirty="0">
                <a:latin typeface="Gotham Rounded Book" pitchFamily="50" charset="0"/>
              </a:rPr>
              <a:t> data yang </a:t>
            </a:r>
            <a:r>
              <a:rPr lang="en-US" dirty="0" err="1">
                <a:latin typeface="Gotham Rounded Book" pitchFamily="50" charset="0"/>
              </a:rPr>
              <a:t>diperoleh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dari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pengukuran</a:t>
            </a:r>
            <a:r>
              <a:rPr lang="en-US" dirty="0">
                <a:latin typeface="Gotham Rounded Book" pitchFamily="50" charset="0"/>
              </a:rPr>
              <a:t> emisi gas </a:t>
            </a:r>
            <a:r>
              <a:rPr lang="en-US" dirty="0" err="1">
                <a:latin typeface="Gotham Rounded Book" pitchFamily="50" charset="0"/>
              </a:rPr>
              <a:t>buang</a:t>
            </a:r>
            <a:r>
              <a:rPr lang="en-US" dirty="0">
                <a:latin typeface="Gotham Rounded Book" pitchFamily="50" charset="0"/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AFE6A7F0-3254-67A2-3E1A-8D18F7DFA0C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290862" y="688544"/>
            <a:ext cx="976234" cy="83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79755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=""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BAD41D2-470F-DE24-FA6A-2F117B3375E2}"/>
              </a:ext>
            </a:extLst>
          </p:cNvPr>
          <p:cNvSpPr txBox="1"/>
          <p:nvPr/>
        </p:nvSpPr>
        <p:spPr>
          <a:xfrm>
            <a:off x="1231854" y="1347428"/>
            <a:ext cx="56155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Hasil </a:t>
            </a:r>
            <a:r>
              <a:rPr lang="en-US" sz="3600" dirty="0" err="1">
                <a:solidFill>
                  <a:srgbClr val="025464"/>
                </a:solidFill>
                <a:latin typeface="Gotham Rounded Medium" panose="02000000000000000000" pitchFamily="50" charset="0"/>
              </a:rPr>
              <a:t>dan</a:t>
            </a:r>
            <a:r>
              <a:rPr lang="en-US" sz="36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 </a:t>
            </a:r>
            <a:r>
              <a:rPr lang="en-US" sz="3600" dirty="0" err="1" smtClean="0">
                <a:solidFill>
                  <a:srgbClr val="025464"/>
                </a:solidFill>
                <a:latin typeface="Gotham Rounded Medium" panose="02000000000000000000" pitchFamily="50" charset="0"/>
              </a:rPr>
              <a:t>Pengujian</a:t>
            </a:r>
            <a:endParaRPr lang="en-ID" sz="36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pic>
        <p:nvPicPr>
          <p:cNvPr id="41" name="Graphic 40" descr="Home with solid fill">
            <a:hlinkClick r:id="rId2" action="ppaction://hlinksldjump"/>
            <a:extLst>
              <a:ext uri="{FF2B5EF4-FFF2-40B4-BE49-F238E27FC236}">
                <a16:creationId xmlns="" xmlns:a16="http://schemas.microsoft.com/office/drawing/2014/main" id="{F0D60671-C3B0-CBAF-A905-015563E2E5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2262" y="5614750"/>
            <a:ext cx="553434" cy="55343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2995A170-ECAD-2341-0DC4-3D4EE232CC86}"/>
              </a:ext>
            </a:extLst>
          </p:cNvPr>
          <p:cNvSpPr txBox="1"/>
          <p:nvPr/>
        </p:nvSpPr>
        <p:spPr>
          <a:xfrm>
            <a:off x="1262071" y="773422"/>
            <a:ext cx="1810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Gotham Rounded Medium" panose="02000000000000000000" pitchFamily="50" charset="0"/>
              </a:rPr>
              <a:t>BAB IV</a:t>
            </a:r>
            <a:endParaRPr lang="en-ID" sz="3200" dirty="0">
              <a:solidFill>
                <a:schemeClr val="bg2">
                  <a:lumMod val="75000"/>
                </a:schemeClr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FE2DFB2-8958-9289-7900-F682F91E0D19}"/>
              </a:ext>
            </a:extLst>
          </p:cNvPr>
          <p:cNvSpPr txBox="1"/>
          <p:nvPr/>
        </p:nvSpPr>
        <p:spPr>
          <a:xfrm>
            <a:off x="1236932" y="5689478"/>
            <a:ext cx="824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otham Rounded Book" pitchFamily="50" charset="0"/>
              </a:rPr>
              <a:t>Page</a:t>
            </a:r>
            <a:endParaRPr lang="en-ID" sz="2000" dirty="0">
              <a:latin typeface="Gotham Rounded Book" pitchFamily="50" charset="0"/>
            </a:endParaRPr>
          </a:p>
        </p:txBody>
      </p:sp>
      <p:sp>
        <p:nvSpPr>
          <p:cNvPr id="11" name="TextBox 10">
            <a:hlinkClick r:id="rId5" action="ppaction://hlinksldjump"/>
            <a:extLst>
              <a:ext uri="{FF2B5EF4-FFF2-40B4-BE49-F238E27FC236}">
                <a16:creationId xmlns="" xmlns:a16="http://schemas.microsoft.com/office/drawing/2014/main" id="{C99F5365-28A1-7947-6F31-41D92B82C7D9}"/>
              </a:ext>
            </a:extLst>
          </p:cNvPr>
          <p:cNvSpPr txBox="1"/>
          <p:nvPr/>
        </p:nvSpPr>
        <p:spPr>
          <a:xfrm>
            <a:off x="2037925" y="5700111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1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12" name="TextBox 11">
            <a:hlinkClick r:id="rId6" action="ppaction://hlinksldjump"/>
            <a:extLst>
              <a:ext uri="{FF2B5EF4-FFF2-40B4-BE49-F238E27FC236}">
                <a16:creationId xmlns="" xmlns:a16="http://schemas.microsoft.com/office/drawing/2014/main" id="{D25FACAE-D973-9E44-582F-602F8DABA732}"/>
              </a:ext>
            </a:extLst>
          </p:cNvPr>
          <p:cNvSpPr txBox="1"/>
          <p:nvPr/>
        </p:nvSpPr>
        <p:spPr>
          <a:xfrm>
            <a:off x="2339611" y="5702178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2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13" name="TextBox 12">
            <a:hlinkClick r:id="rId7" action="ppaction://hlinksldjump"/>
            <a:extLst>
              <a:ext uri="{FF2B5EF4-FFF2-40B4-BE49-F238E27FC236}">
                <a16:creationId xmlns="" xmlns:a16="http://schemas.microsoft.com/office/drawing/2014/main" id="{1DE0D85F-6A98-7E9B-FAFD-B4515F17D772}"/>
              </a:ext>
            </a:extLst>
          </p:cNvPr>
          <p:cNvSpPr txBox="1"/>
          <p:nvPr/>
        </p:nvSpPr>
        <p:spPr>
          <a:xfrm>
            <a:off x="2669380" y="5702178"/>
            <a:ext cx="3433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25464"/>
                </a:solidFill>
                <a:latin typeface="Gotham Rounded Bold" pitchFamily="50" charset="0"/>
              </a:rPr>
              <a:t>3</a:t>
            </a:r>
            <a:endParaRPr lang="en-ID" sz="2000" dirty="0">
              <a:solidFill>
                <a:srgbClr val="025464"/>
              </a:solidFill>
              <a:latin typeface="Gotham Rounded Bold" pitchFamily="50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76892" y="2629694"/>
          <a:ext cx="6038215" cy="23272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00430"/>
                <a:gridCol w="540385"/>
                <a:gridCol w="723900"/>
                <a:gridCol w="723900"/>
                <a:gridCol w="629920"/>
                <a:gridCol w="629920"/>
                <a:gridCol w="629920"/>
                <a:gridCol w="629920"/>
                <a:gridCol w="629920"/>
              </a:tblGrid>
              <a:tr h="0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Jenis Motor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Sebelum Kalibrasi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Koreksi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Setelah Kalibrasi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Koreksi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Gas Co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Gas HC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CO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HC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Gas CO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Gas HC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CO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HC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Honda PCX 160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927,8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190,1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-9,56%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-0,09%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10.387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182,5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0,05%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-0,14%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Benelli Motobi152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963,7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166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-16,95%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0,13%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10.653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172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-0,62%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0,16%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Honda Revo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938,6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187,5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-57%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3,63%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31.578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759 ppm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>
                          <a:effectLst/>
                        </a:rPr>
                        <a:t>-0,74%</a:t>
                      </a:r>
                      <a:endParaRPr lang="en-ID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752475" algn="l"/>
                        </a:tabLst>
                      </a:pPr>
                      <a:r>
                        <a:rPr lang="en-ID" sz="1200" dirty="0">
                          <a:effectLst/>
                        </a:rPr>
                        <a:t>-0,14%</a:t>
                      </a:r>
                      <a:endParaRPr lang="en-ID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505435" y="2290766"/>
            <a:ext cx="3181127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24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2475" algn="l"/>
              </a:tabLst>
            </a:pPr>
            <a:r>
              <a:rPr kumimoji="0" lang="en-US" altLang="en-US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12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abel</a:t>
            </a:r>
            <a:r>
              <a:rPr kumimoji="0" lang="en-US" altLang="en-US" sz="12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4.</a:t>
            </a:r>
            <a:r>
              <a:rPr lang="en-US" altLang="en-US" sz="1200" dirty="0" bmk="_Toc173090689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smtClean="0" bmk="_Toc173090689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 Hasil </a:t>
            </a:r>
            <a:r>
              <a:rPr kumimoji="0" lang="en-US" altLang="en-US" sz="1200" b="0" i="0" u="none" strike="noStrike" cap="none" normalizeH="0" baseline="0" dirty="0" err="1" smtClean="0" bmk="_Toc173090689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Perbandingan</a:t>
            </a:r>
            <a:r>
              <a:rPr kumimoji="0" lang="en-US" altLang="en-US" sz="1200" b="0" i="0" u="none" strike="noStrike" cap="none" normalizeH="0" baseline="0" dirty="0" smtClean="0" bmk="_Toc173090689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 bmk="_Toc173090689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dan</a:t>
            </a:r>
            <a:r>
              <a:rPr kumimoji="0" lang="en-US" altLang="en-US" sz="1200" b="0" i="0" u="none" strike="noStrike" cap="none" normalizeH="0" baseline="0" dirty="0" smtClean="0" bmk="_Toc173090689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 bmk="_Toc173090689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Nilai</a:t>
            </a:r>
            <a:r>
              <a:rPr kumimoji="0" lang="en-US" altLang="en-US" sz="1200" b="0" i="0" u="none" strike="noStrike" cap="none" normalizeH="0" baseline="0" dirty="0" smtClean="0" bmk="_Toc173090689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="0" i="0" u="none" strike="noStrike" cap="none" normalizeH="0" baseline="0" dirty="0" err="1" smtClean="0" bmk="_Toc173090689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Koreksi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AFE6A7F0-3254-67A2-3E1A-8D18F7DFA0C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290862" y="688544"/>
            <a:ext cx="976234" cy="83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968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=""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678F4D7-6000-3FF5-DAE7-3EDD4E0D7E98}"/>
              </a:ext>
            </a:extLst>
          </p:cNvPr>
          <p:cNvSpPr txBox="1"/>
          <p:nvPr/>
        </p:nvSpPr>
        <p:spPr>
          <a:xfrm>
            <a:off x="3240282" y="2096125"/>
            <a:ext cx="5457435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BAB V</a:t>
            </a:r>
            <a:endParaRPr lang="en-ID" sz="115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11" name="Rectangle: Rounded Corners 10">
            <a:hlinkClick r:id="" action="ppaction://hlinkshowjump?jump=nextslide"/>
            <a:extLst>
              <a:ext uri="{FF2B5EF4-FFF2-40B4-BE49-F238E27FC236}">
                <a16:creationId xmlns="" xmlns:a16="http://schemas.microsoft.com/office/drawing/2014/main" id="{A053D7D1-6394-2720-52C2-3E4347007BE6}"/>
              </a:ext>
            </a:extLst>
          </p:cNvPr>
          <p:cNvSpPr/>
          <p:nvPr/>
        </p:nvSpPr>
        <p:spPr>
          <a:xfrm>
            <a:off x="4679950" y="4521200"/>
            <a:ext cx="2832100" cy="495300"/>
          </a:xfrm>
          <a:prstGeom prst="roundRect">
            <a:avLst>
              <a:gd name="adj" fmla="val 50000"/>
            </a:avLst>
          </a:prstGeom>
          <a:solidFill>
            <a:srgbClr val="E8AA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Rounded Medium" panose="02000000000000000000" pitchFamily="50" charset="0"/>
              </a:rPr>
              <a:t>Kesimpulan dan Saran</a:t>
            </a:r>
            <a:endParaRPr lang="en-ID" sz="1600" dirty="0">
              <a:latin typeface="Gotham Rounded Medium" panose="02000000000000000000" pitchFamily="50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012" y="1092338"/>
            <a:ext cx="1209975" cy="100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41998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=""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97114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BAD41D2-470F-DE24-FA6A-2F117B3375E2}"/>
              </a:ext>
            </a:extLst>
          </p:cNvPr>
          <p:cNvSpPr txBox="1"/>
          <p:nvPr/>
        </p:nvSpPr>
        <p:spPr>
          <a:xfrm>
            <a:off x="1231854" y="1347428"/>
            <a:ext cx="5454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 smtClean="0">
                <a:solidFill>
                  <a:srgbClr val="025464"/>
                </a:solidFill>
                <a:latin typeface="Gotham Rounded Medium" panose="02000000000000000000" pitchFamily="50" charset="0"/>
              </a:rPr>
              <a:t>Kesimpulan</a:t>
            </a:r>
            <a:endParaRPr lang="en-ID" sz="36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pic>
        <p:nvPicPr>
          <p:cNvPr id="41" name="Graphic 40" descr="Home with solid fill">
            <a:hlinkClick r:id="rId2" action="ppaction://hlinksldjump"/>
            <a:extLst>
              <a:ext uri="{FF2B5EF4-FFF2-40B4-BE49-F238E27FC236}">
                <a16:creationId xmlns="" xmlns:a16="http://schemas.microsoft.com/office/drawing/2014/main" id="{F0D60671-C3B0-CBAF-A905-015563E2E5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02262" y="5614750"/>
            <a:ext cx="553434" cy="55343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2995A170-ECAD-2341-0DC4-3D4EE232CC86}"/>
              </a:ext>
            </a:extLst>
          </p:cNvPr>
          <p:cNvSpPr txBox="1"/>
          <p:nvPr/>
        </p:nvSpPr>
        <p:spPr>
          <a:xfrm>
            <a:off x="1262071" y="773422"/>
            <a:ext cx="1810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Gotham Rounded Medium" panose="02000000000000000000" pitchFamily="50" charset="0"/>
              </a:rPr>
              <a:t>BAB IV</a:t>
            </a:r>
            <a:endParaRPr lang="en-ID" sz="3200" dirty="0">
              <a:solidFill>
                <a:schemeClr val="bg2">
                  <a:lumMod val="75000"/>
                </a:schemeClr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ECB171B-5DE2-11E4-D670-556EE18D6D09}"/>
              </a:ext>
            </a:extLst>
          </p:cNvPr>
          <p:cNvSpPr txBox="1"/>
          <p:nvPr/>
        </p:nvSpPr>
        <p:spPr>
          <a:xfrm>
            <a:off x="1617625" y="2549060"/>
            <a:ext cx="27805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smtClean="0">
                <a:latin typeface="Gotham Rounded Book" pitchFamily="50" charset="0"/>
              </a:rPr>
              <a:t>Hasil </a:t>
            </a:r>
            <a:r>
              <a:rPr lang="en-US" sz="1600" dirty="0">
                <a:latin typeface="Gotham Rounded Book" pitchFamily="50" charset="0"/>
              </a:rPr>
              <a:t>dengan menggunakan </a:t>
            </a:r>
            <a:r>
              <a:rPr lang="en-US" sz="1600" dirty="0" err="1">
                <a:latin typeface="Gotham Rounded Book" pitchFamily="50" charset="0"/>
              </a:rPr>
              <a:t>metode</a:t>
            </a:r>
            <a:r>
              <a:rPr lang="en-US" sz="1600" dirty="0">
                <a:latin typeface="Gotham Rounded Book" pitchFamily="50" charset="0"/>
              </a:rPr>
              <a:t> fuzzy </a:t>
            </a:r>
            <a:r>
              <a:rPr lang="en-US" sz="1600" dirty="0" err="1">
                <a:latin typeface="Gotham Rounded Book" pitchFamily="50" charset="0"/>
              </a:rPr>
              <a:t>mamdani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pada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Perancangan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Sistem</a:t>
            </a:r>
            <a:r>
              <a:rPr lang="en-US" sz="1600" dirty="0">
                <a:latin typeface="Gotham Rounded Book" pitchFamily="50" charset="0"/>
              </a:rPr>
              <a:t> Emisi Gas </a:t>
            </a:r>
            <a:r>
              <a:rPr lang="en-US" sz="1600" dirty="0" err="1">
                <a:latin typeface="Gotham Rounded Book" pitchFamily="50" charset="0"/>
              </a:rPr>
              <a:t>Buang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Kendaraan</a:t>
            </a:r>
            <a:r>
              <a:rPr lang="en-US" sz="1600" dirty="0">
                <a:latin typeface="Gotham Rounded Book" pitchFamily="50" charset="0"/>
              </a:rPr>
              <a:t>, </a:t>
            </a:r>
            <a:r>
              <a:rPr lang="en-US" sz="1600" dirty="0" err="1">
                <a:latin typeface="Gotham Rounded Book" pitchFamily="50" charset="0"/>
              </a:rPr>
              <a:t>memiliki</a:t>
            </a:r>
            <a:r>
              <a:rPr lang="en-US" sz="1600" dirty="0">
                <a:latin typeface="Gotham Rounded Book" pitchFamily="50" charset="0"/>
              </a:rPr>
              <a:t> tampilan </a:t>
            </a:r>
            <a:r>
              <a:rPr lang="en-US" sz="1600" dirty="0" err="1">
                <a:latin typeface="Gotham Rounded Book" pitchFamily="50" charset="0"/>
              </a:rPr>
              <a:t>indikator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warna</a:t>
            </a:r>
            <a:r>
              <a:rPr lang="en-US" sz="1600" dirty="0">
                <a:latin typeface="Gotham Rounded Book" pitchFamily="50" charset="0"/>
              </a:rPr>
              <a:t> yang </a:t>
            </a:r>
            <a:r>
              <a:rPr lang="en-US" sz="1600" dirty="0" err="1">
                <a:latin typeface="Gotham Rounded Book" pitchFamily="50" charset="0"/>
              </a:rPr>
              <a:t>intuitif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memudahkan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pengguna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untuk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memahami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tingkat</a:t>
            </a:r>
            <a:r>
              <a:rPr lang="en-US" sz="1600" dirty="0">
                <a:latin typeface="Gotham Rounded Book" pitchFamily="50" charset="0"/>
              </a:rPr>
              <a:t> emisi gas </a:t>
            </a:r>
            <a:r>
              <a:rPr lang="en-US" sz="1600" dirty="0" err="1">
                <a:latin typeface="Gotham Rounded Book" pitchFamily="50" charset="0"/>
              </a:rPr>
              <a:t>buang</a:t>
            </a:r>
            <a:r>
              <a:rPr lang="en-US" sz="1600" dirty="0">
                <a:latin typeface="Gotham Rounded Book" pitchFamily="50" charset="0"/>
              </a:rPr>
              <a:t> (</a:t>
            </a:r>
            <a:r>
              <a:rPr lang="en-US" sz="1600" dirty="0" err="1">
                <a:latin typeface="Gotham Rounded Book" pitchFamily="50" charset="0"/>
              </a:rPr>
              <a:t>hijau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untuk</a:t>
            </a:r>
            <a:r>
              <a:rPr lang="en-US" sz="1600" dirty="0">
                <a:latin typeface="Gotham Rounded Book" pitchFamily="50" charset="0"/>
              </a:rPr>
              <a:t> emisi normal, </a:t>
            </a:r>
            <a:r>
              <a:rPr lang="en-US" sz="1600" dirty="0" err="1">
                <a:latin typeface="Gotham Rounded Book" pitchFamily="50" charset="0"/>
              </a:rPr>
              <a:t>kuning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untuk</a:t>
            </a:r>
            <a:r>
              <a:rPr lang="en-US" sz="1600" dirty="0">
                <a:latin typeface="Gotham Rounded Book" pitchFamily="50" charset="0"/>
              </a:rPr>
              <a:t> emisi </a:t>
            </a:r>
            <a:r>
              <a:rPr lang="en-US" sz="1600" dirty="0" err="1">
                <a:latin typeface="Gotham Rounded Book" pitchFamily="50" charset="0"/>
              </a:rPr>
              <a:t>berlebih</a:t>
            </a:r>
            <a:r>
              <a:rPr lang="en-US" sz="1600" dirty="0">
                <a:latin typeface="Gotham Rounded Book" pitchFamily="50" charset="0"/>
              </a:rPr>
              <a:t>, </a:t>
            </a:r>
            <a:r>
              <a:rPr lang="en-US" sz="1600" dirty="0" err="1">
                <a:latin typeface="Gotham Rounded Book" pitchFamily="50" charset="0"/>
              </a:rPr>
              <a:t>dan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merah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untuk</a:t>
            </a:r>
            <a:r>
              <a:rPr lang="en-US" sz="1600" dirty="0">
                <a:latin typeface="Gotham Rounded Book" pitchFamily="50" charset="0"/>
              </a:rPr>
              <a:t> emisi berbahaya).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6949846F-19E3-3AFD-B626-66E093AC343B}"/>
              </a:ext>
            </a:extLst>
          </p:cNvPr>
          <p:cNvSpPr txBox="1"/>
          <p:nvPr/>
        </p:nvSpPr>
        <p:spPr>
          <a:xfrm>
            <a:off x="1236932" y="5689478"/>
            <a:ext cx="824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otham Rounded Book" pitchFamily="50" charset="0"/>
              </a:rPr>
              <a:t>Page</a:t>
            </a:r>
            <a:endParaRPr lang="en-ID" sz="2000" dirty="0">
              <a:latin typeface="Gotham Rounded Book" pitchFamily="50" charset="0"/>
            </a:endParaRPr>
          </a:p>
        </p:txBody>
      </p:sp>
      <p:sp>
        <p:nvSpPr>
          <p:cNvPr id="6" name="TextBox 5">
            <a:hlinkClick r:id="rId5" action="ppaction://hlinksldjump"/>
            <a:extLst>
              <a:ext uri="{FF2B5EF4-FFF2-40B4-BE49-F238E27FC236}">
                <a16:creationId xmlns="" xmlns:a16="http://schemas.microsoft.com/office/drawing/2014/main" id="{AD43C4D8-DD90-38D7-DF51-E6C828587131}"/>
              </a:ext>
            </a:extLst>
          </p:cNvPr>
          <p:cNvSpPr txBox="1"/>
          <p:nvPr/>
        </p:nvSpPr>
        <p:spPr>
          <a:xfrm>
            <a:off x="2037925" y="5689478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25464"/>
                </a:solidFill>
                <a:latin typeface="Gotham Rounded Bold" pitchFamily="50" charset="0"/>
              </a:rPr>
              <a:t>1</a:t>
            </a:r>
            <a:endParaRPr lang="en-ID" sz="2000" dirty="0">
              <a:solidFill>
                <a:srgbClr val="025464"/>
              </a:solidFill>
              <a:latin typeface="Gotham Rounded Bold" pitchFamily="50" charset="0"/>
            </a:endParaRPr>
          </a:p>
        </p:txBody>
      </p:sp>
      <p:sp>
        <p:nvSpPr>
          <p:cNvPr id="7" name="TextBox 6">
            <a:hlinkClick r:id="rId6" action="ppaction://hlinksldjump"/>
            <a:extLst>
              <a:ext uri="{FF2B5EF4-FFF2-40B4-BE49-F238E27FC236}">
                <a16:creationId xmlns="" xmlns:a16="http://schemas.microsoft.com/office/drawing/2014/main" id="{0DF1C689-D7DB-BDC2-3B3F-BD2CEE00D32D}"/>
              </a:ext>
            </a:extLst>
          </p:cNvPr>
          <p:cNvSpPr txBox="1"/>
          <p:nvPr/>
        </p:nvSpPr>
        <p:spPr>
          <a:xfrm>
            <a:off x="2339611" y="5691545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2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="" xmlns:a16="http://schemas.microsoft.com/office/drawing/2014/main" id="{4C84976E-DF0B-4DBB-CCCF-F30CCC7D4514}"/>
              </a:ext>
            </a:extLst>
          </p:cNvPr>
          <p:cNvSpPr/>
          <p:nvPr/>
        </p:nvSpPr>
        <p:spPr>
          <a:xfrm>
            <a:off x="1617624" y="2181747"/>
            <a:ext cx="2780541" cy="442107"/>
          </a:xfrm>
          <a:prstGeom prst="roundRect">
            <a:avLst>
              <a:gd name="adj" fmla="val 50000"/>
            </a:avLst>
          </a:prstGeom>
          <a:solidFill>
            <a:srgbClr val="0254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Rounded Book" pitchFamily="50" charset="0"/>
              </a:rPr>
              <a:t>Kesimpulan </a:t>
            </a:r>
            <a:r>
              <a:rPr lang="en-US" sz="1600" dirty="0" err="1">
                <a:latin typeface="Gotham Rounded Book" pitchFamily="50" charset="0"/>
              </a:rPr>
              <a:t>Pertama</a:t>
            </a:r>
            <a:endParaRPr lang="en-ID" sz="1600" dirty="0">
              <a:latin typeface="Gotham Rounded Book" pitchFamily="50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3DC06409-E6C7-73B4-CBF6-B0ACF4D71499}"/>
              </a:ext>
            </a:extLst>
          </p:cNvPr>
          <p:cNvSpPr txBox="1"/>
          <p:nvPr/>
        </p:nvSpPr>
        <p:spPr>
          <a:xfrm>
            <a:off x="4705730" y="2545982"/>
            <a:ext cx="278054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smtClean="0">
                <a:latin typeface="Gotham Rounded Book" pitchFamily="50" charset="0"/>
              </a:rPr>
              <a:t>Platform </a:t>
            </a:r>
            <a:r>
              <a:rPr lang="en-US" sz="1600" dirty="0" err="1">
                <a:latin typeface="Gotham Rounded Book" pitchFamily="50" charset="0"/>
              </a:rPr>
              <a:t>IoT</a:t>
            </a:r>
            <a:r>
              <a:rPr lang="en-US" sz="1600" dirty="0">
                <a:latin typeface="Gotham Rounded Book" pitchFamily="50" charset="0"/>
              </a:rPr>
              <a:t> yaitu </a:t>
            </a:r>
            <a:r>
              <a:rPr lang="en-US" sz="1600" dirty="0" err="1">
                <a:latin typeface="Gotham Rounded Book" pitchFamily="50" charset="0"/>
              </a:rPr>
              <a:t>Blynk</a:t>
            </a:r>
            <a:r>
              <a:rPr lang="en-US" sz="1600" dirty="0">
                <a:latin typeface="Gotham Rounded Book" pitchFamily="50" charset="0"/>
              </a:rPr>
              <a:t>, </a:t>
            </a:r>
            <a:r>
              <a:rPr lang="en-US" sz="1600" dirty="0" err="1">
                <a:latin typeface="Gotham Rounded Book" pitchFamily="50" charset="0"/>
              </a:rPr>
              <a:t>dapat</a:t>
            </a:r>
            <a:r>
              <a:rPr lang="en-US" sz="1600" dirty="0">
                <a:latin typeface="Gotham Rounded Book" pitchFamily="50" charset="0"/>
              </a:rPr>
              <a:t> digunakan </a:t>
            </a:r>
            <a:r>
              <a:rPr lang="en-US" sz="1600" dirty="0" err="1">
                <a:latin typeface="Gotham Rounded Book" pitchFamily="50" charset="0"/>
              </a:rPr>
              <a:t>untuk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merancang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sistem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penyimpanan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dan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akses</a:t>
            </a:r>
            <a:r>
              <a:rPr lang="en-US" sz="1600" dirty="0">
                <a:latin typeface="Gotham Rounded Book" pitchFamily="50" charset="0"/>
              </a:rPr>
              <a:t> data </a:t>
            </a:r>
            <a:r>
              <a:rPr lang="en-US" sz="1600" dirty="0" err="1">
                <a:latin typeface="Gotham Rounded Book" pitchFamily="50" charset="0"/>
              </a:rPr>
              <a:t>Sistem</a:t>
            </a:r>
            <a:r>
              <a:rPr lang="en-US" sz="1600" dirty="0">
                <a:latin typeface="Gotham Rounded Book" pitchFamily="50" charset="0"/>
              </a:rPr>
              <a:t> Monitoring Emisi Gas </a:t>
            </a:r>
            <a:r>
              <a:rPr lang="en-US" sz="1600" dirty="0" err="1">
                <a:latin typeface="Gotham Rounded Book" pitchFamily="50" charset="0"/>
              </a:rPr>
              <a:t>Buang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Kendaraan</a:t>
            </a:r>
            <a:r>
              <a:rPr lang="en-US" sz="1600" dirty="0">
                <a:latin typeface="Gotham Rounded Book" pitchFamily="50" charset="0"/>
              </a:rPr>
              <a:t> secara real-time, </a:t>
            </a:r>
            <a:r>
              <a:rPr lang="en-US" sz="1600" dirty="0" err="1">
                <a:latin typeface="Gotham Rounded Book" pitchFamily="50" charset="0"/>
              </a:rPr>
              <a:t>hal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ini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dapat</a:t>
            </a:r>
            <a:r>
              <a:rPr lang="en-US" sz="1600" dirty="0">
                <a:latin typeface="Gotham Rounded Book" pitchFamily="50" charset="0"/>
              </a:rPr>
              <a:t> digunakan </a:t>
            </a:r>
            <a:r>
              <a:rPr lang="en-US" sz="1600" dirty="0" err="1">
                <a:latin typeface="Gotham Rounded Book" pitchFamily="50" charset="0"/>
              </a:rPr>
              <a:t>untuk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memantau</a:t>
            </a:r>
            <a:r>
              <a:rPr lang="en-US" sz="1600" dirty="0">
                <a:latin typeface="Gotham Rounded Book" pitchFamily="50" charset="0"/>
              </a:rPr>
              <a:t> hasil </a:t>
            </a:r>
            <a:r>
              <a:rPr lang="en-US" sz="1600" dirty="0" err="1">
                <a:latin typeface="Gotham Rounded Book" pitchFamily="50" charset="0"/>
              </a:rPr>
              <a:t>pengukuran</a:t>
            </a:r>
            <a:r>
              <a:rPr lang="en-US" sz="1600" dirty="0">
                <a:latin typeface="Gotham Rounded Book" pitchFamily="50" charset="0"/>
              </a:rPr>
              <a:t> gas emisi </a:t>
            </a:r>
            <a:r>
              <a:rPr lang="en-US" sz="1600" dirty="0" err="1">
                <a:latin typeface="Gotham Rounded Book" pitchFamily="50" charset="0"/>
              </a:rPr>
              <a:t>buang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kendaraan</a:t>
            </a:r>
            <a:r>
              <a:rPr lang="en-US" sz="1600" dirty="0">
                <a:latin typeface="Gotham Rounded Book" pitchFamily="50" charset="0"/>
              </a:rPr>
              <a:t> secara </a:t>
            </a:r>
            <a:r>
              <a:rPr lang="en-US" sz="1600" dirty="0" err="1">
                <a:latin typeface="Gotham Rounded Book" pitchFamily="50" charset="0"/>
              </a:rPr>
              <a:t>terus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menerus</a:t>
            </a:r>
            <a:r>
              <a:rPr lang="en-US" sz="1600" dirty="0">
                <a:latin typeface="Gotham Rounded Book" pitchFamily="50" charset="0"/>
              </a:rPr>
              <a:t> dengan </a:t>
            </a:r>
            <a:r>
              <a:rPr lang="en-US" sz="1600" dirty="0" err="1">
                <a:latin typeface="Gotham Rounded Book" pitchFamily="50" charset="0"/>
              </a:rPr>
              <a:t>pilihan</a:t>
            </a:r>
            <a:r>
              <a:rPr lang="en-US" sz="1600" dirty="0">
                <a:latin typeface="Gotham Rounded Book" pitchFamily="50" charset="0"/>
              </a:rPr>
              <a:t> data setiap </a:t>
            </a:r>
            <a:r>
              <a:rPr lang="en-US" sz="1600" dirty="0" err="1">
                <a:latin typeface="Gotham Rounded Book" pitchFamily="50" charset="0"/>
              </a:rPr>
              <a:t>menit</a:t>
            </a:r>
            <a:r>
              <a:rPr lang="en-US" sz="1600" dirty="0">
                <a:latin typeface="Gotham Rounded Book" pitchFamily="50" charset="0"/>
              </a:rPr>
              <a:t>, setiap jam, maupun setiap </a:t>
            </a:r>
            <a:r>
              <a:rPr lang="en-US" sz="1600" dirty="0" err="1">
                <a:latin typeface="Gotham Rounded Book" pitchFamily="50" charset="0"/>
              </a:rPr>
              <a:t>satu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hari</a:t>
            </a:r>
            <a:r>
              <a:rPr lang="en-US" sz="1600" dirty="0">
                <a:latin typeface="Gotham Rounded Book" pitchFamily="50" charset="0"/>
              </a:rPr>
              <a:t>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="" xmlns:a16="http://schemas.microsoft.com/office/drawing/2014/main" id="{5487B51B-55BC-6228-8557-AEA77CD661FD}"/>
              </a:ext>
            </a:extLst>
          </p:cNvPr>
          <p:cNvSpPr/>
          <p:nvPr/>
        </p:nvSpPr>
        <p:spPr>
          <a:xfrm>
            <a:off x="4705729" y="2181139"/>
            <a:ext cx="2780541" cy="442107"/>
          </a:xfrm>
          <a:prstGeom prst="roundRect">
            <a:avLst>
              <a:gd name="adj" fmla="val 50000"/>
            </a:avLst>
          </a:prstGeom>
          <a:solidFill>
            <a:srgbClr val="0254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Rounded Book" pitchFamily="50" charset="0"/>
              </a:rPr>
              <a:t>Kesimpulan </a:t>
            </a:r>
            <a:r>
              <a:rPr lang="en-US" sz="1600" dirty="0" err="1">
                <a:latin typeface="Gotham Rounded Book" pitchFamily="50" charset="0"/>
              </a:rPr>
              <a:t>Kedua</a:t>
            </a:r>
            <a:endParaRPr lang="en-ID" sz="1600" dirty="0">
              <a:latin typeface="Gotham Rounded Book" pitchFamily="50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8339F605-812F-7B7B-89B6-9440F1811145}"/>
              </a:ext>
            </a:extLst>
          </p:cNvPr>
          <p:cNvSpPr txBox="1"/>
          <p:nvPr/>
        </p:nvSpPr>
        <p:spPr>
          <a:xfrm>
            <a:off x="7793834" y="2545982"/>
            <a:ext cx="27805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smtClean="0">
                <a:latin typeface="Gotham Rounded Book" pitchFamily="50" charset="0"/>
              </a:rPr>
              <a:t>Terdapat </a:t>
            </a:r>
            <a:r>
              <a:rPr lang="en-US" sz="1600" dirty="0" err="1">
                <a:latin typeface="Gotham Rounded Book" pitchFamily="50" charset="0"/>
              </a:rPr>
              <a:t>perbedaan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akurasi</a:t>
            </a:r>
            <a:r>
              <a:rPr lang="en-US" sz="1600" dirty="0">
                <a:latin typeface="Gotham Rounded Book" pitchFamily="50" charset="0"/>
              </a:rPr>
              <a:t> yang </a:t>
            </a:r>
            <a:r>
              <a:rPr lang="en-US" sz="1600" dirty="0" err="1">
                <a:latin typeface="Gotham Rounded Book" pitchFamily="50" charset="0"/>
              </a:rPr>
              <a:t>cukup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signifikan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antara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pembacaan</a:t>
            </a:r>
            <a:r>
              <a:rPr lang="en-US" sz="1600" dirty="0">
                <a:latin typeface="Gotham Rounded Book" pitchFamily="50" charset="0"/>
              </a:rPr>
              <a:t> sensor alat </a:t>
            </a:r>
            <a:r>
              <a:rPr lang="en-US" sz="1600" dirty="0" err="1">
                <a:latin typeface="Gotham Rounded Book" pitchFamily="50" charset="0"/>
              </a:rPr>
              <a:t>Sistem</a:t>
            </a:r>
            <a:r>
              <a:rPr lang="en-US" sz="1600" dirty="0">
                <a:latin typeface="Gotham Rounded Book" pitchFamily="50" charset="0"/>
              </a:rPr>
              <a:t> Monitoring Emisi Gas </a:t>
            </a:r>
            <a:r>
              <a:rPr lang="en-US" sz="1600" dirty="0" err="1">
                <a:latin typeface="Gotham Rounded Book" pitchFamily="50" charset="0"/>
              </a:rPr>
              <a:t>Buang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Kendaraan</a:t>
            </a:r>
            <a:r>
              <a:rPr lang="en-US" sz="1600" dirty="0">
                <a:latin typeface="Gotham Rounded Book" pitchFamily="50" charset="0"/>
              </a:rPr>
              <a:t> dengan alat </a:t>
            </a:r>
            <a:r>
              <a:rPr lang="en-US" sz="1600" dirty="0" err="1">
                <a:latin typeface="Gotham Rounded Book" pitchFamily="50" charset="0"/>
              </a:rPr>
              <a:t>standar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merek</a:t>
            </a:r>
            <a:r>
              <a:rPr lang="en-US" sz="1600" dirty="0">
                <a:latin typeface="Gotham Rounded Book" pitchFamily="50" charset="0"/>
              </a:rPr>
              <a:t> KOENG KEG-500, </a:t>
            </a:r>
            <a:r>
              <a:rPr lang="en-US" sz="1600" dirty="0" err="1">
                <a:latin typeface="Gotham Rounded Book" pitchFamily="50" charset="0"/>
              </a:rPr>
              <a:t>dan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setelah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dikalibrasi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masih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memiliki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nilai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err="1">
                <a:latin typeface="Gotham Rounded Book" pitchFamily="50" charset="0"/>
              </a:rPr>
              <a:t>koreksi</a:t>
            </a:r>
            <a:r>
              <a:rPr lang="en-US" sz="1600" dirty="0">
                <a:latin typeface="Gotham Rounded Book" pitchFamily="50" charset="0"/>
              </a:rPr>
              <a:t> </a:t>
            </a:r>
            <a:r>
              <a:rPr lang="en-US" sz="1600" dirty="0" smtClean="0">
                <a:latin typeface="Gotham Rounded Book" pitchFamily="50" charset="0"/>
              </a:rPr>
              <a:t>yang </a:t>
            </a:r>
            <a:r>
              <a:rPr lang="en-US" sz="1600" dirty="0" err="1" smtClean="0">
                <a:latin typeface="Gotham Rounded Book" pitchFamily="50" charset="0"/>
              </a:rPr>
              <a:t>makin</a:t>
            </a:r>
            <a:r>
              <a:rPr lang="en-US" sz="1600" dirty="0" smtClean="0">
                <a:latin typeface="Gotham Rounded Book" pitchFamily="50" charset="0"/>
              </a:rPr>
              <a:t> </a:t>
            </a:r>
            <a:r>
              <a:rPr lang="en-US" sz="1600" dirty="0" err="1" smtClean="0">
                <a:latin typeface="Gotham Rounded Book" pitchFamily="50" charset="0"/>
              </a:rPr>
              <a:t>sedikit</a:t>
            </a:r>
            <a:r>
              <a:rPr lang="en-US" sz="1600" dirty="0">
                <a:latin typeface="Gotham Rounded Book" pitchFamily="50" charset="0"/>
              </a:rPr>
              <a:t>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="" xmlns:a16="http://schemas.microsoft.com/office/drawing/2014/main" id="{A8AFA49F-6A63-8ACA-6EC8-4A08C8930AE4}"/>
              </a:ext>
            </a:extLst>
          </p:cNvPr>
          <p:cNvSpPr/>
          <p:nvPr/>
        </p:nvSpPr>
        <p:spPr>
          <a:xfrm>
            <a:off x="7793834" y="2180531"/>
            <a:ext cx="2780541" cy="442107"/>
          </a:xfrm>
          <a:prstGeom prst="roundRect">
            <a:avLst>
              <a:gd name="adj" fmla="val 50000"/>
            </a:avLst>
          </a:prstGeom>
          <a:solidFill>
            <a:srgbClr val="0254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Gotham Rounded Book" pitchFamily="50" charset="0"/>
              </a:rPr>
              <a:t>Kesimpulan </a:t>
            </a:r>
            <a:r>
              <a:rPr lang="en-US" sz="1600" dirty="0" err="1">
                <a:latin typeface="Gotham Rounded Book" pitchFamily="50" charset="0"/>
              </a:rPr>
              <a:t>Ketiga</a:t>
            </a:r>
            <a:endParaRPr lang="en-ID" sz="1600" dirty="0">
              <a:latin typeface="Gotham Rounded Book" pitchFamily="50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="" xmlns:a16="http://schemas.microsoft.com/office/drawing/2014/main" id="{06A3B72D-B158-19D8-3FDE-EF9ED5923804}"/>
              </a:ext>
            </a:extLst>
          </p:cNvPr>
          <p:cNvCxnSpPr>
            <a:cxnSpLocks/>
          </p:cNvCxnSpPr>
          <p:nvPr/>
        </p:nvCxnSpPr>
        <p:spPr>
          <a:xfrm>
            <a:off x="7624793" y="2223025"/>
            <a:ext cx="0" cy="2028739"/>
          </a:xfrm>
          <a:prstGeom prst="line">
            <a:avLst/>
          </a:prstGeom>
          <a:ln w="38100">
            <a:solidFill>
              <a:srgbClr val="E8AA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="" xmlns:a16="http://schemas.microsoft.com/office/drawing/2014/main" id="{C9625859-DCA4-650F-1D4E-2BE36F2CA908}"/>
              </a:ext>
            </a:extLst>
          </p:cNvPr>
          <p:cNvCxnSpPr>
            <a:cxnSpLocks/>
          </p:cNvCxnSpPr>
          <p:nvPr/>
        </p:nvCxnSpPr>
        <p:spPr>
          <a:xfrm>
            <a:off x="4549251" y="2240093"/>
            <a:ext cx="0" cy="2028739"/>
          </a:xfrm>
          <a:prstGeom prst="line">
            <a:avLst/>
          </a:prstGeom>
          <a:ln w="38100">
            <a:solidFill>
              <a:srgbClr val="E8AA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AFE6A7F0-3254-67A2-3E1A-8D18F7DFA0C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290862" y="688544"/>
            <a:ext cx="976234" cy="83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24706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=""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u="sng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BAD41D2-470F-DE24-FA6A-2F117B3375E2}"/>
              </a:ext>
            </a:extLst>
          </p:cNvPr>
          <p:cNvSpPr txBox="1"/>
          <p:nvPr/>
        </p:nvSpPr>
        <p:spPr>
          <a:xfrm>
            <a:off x="1231854" y="1347428"/>
            <a:ext cx="5454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rgbClr val="025464"/>
                </a:solidFill>
                <a:latin typeface="Gotham Rounded Medium" panose="02000000000000000000" pitchFamily="50" charset="0"/>
              </a:rPr>
              <a:t>Saran</a:t>
            </a:r>
            <a:endParaRPr lang="en-ID" sz="36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2995A170-ECAD-2341-0DC4-3D4EE232CC86}"/>
              </a:ext>
            </a:extLst>
          </p:cNvPr>
          <p:cNvSpPr txBox="1"/>
          <p:nvPr/>
        </p:nvSpPr>
        <p:spPr>
          <a:xfrm>
            <a:off x="1262071" y="773422"/>
            <a:ext cx="1810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Gotham Rounded Medium" panose="02000000000000000000" pitchFamily="50" charset="0"/>
              </a:rPr>
              <a:t>BAB IV</a:t>
            </a:r>
            <a:endParaRPr lang="en-ID" sz="3200" dirty="0">
              <a:solidFill>
                <a:schemeClr val="bg2">
                  <a:lumMod val="75000"/>
                </a:schemeClr>
              </a:solidFill>
              <a:latin typeface="Gotham Rounded Medium" panose="020000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ECB171B-5DE2-11E4-D670-556EE18D6D09}"/>
              </a:ext>
            </a:extLst>
          </p:cNvPr>
          <p:cNvSpPr txBox="1"/>
          <p:nvPr/>
        </p:nvSpPr>
        <p:spPr>
          <a:xfrm>
            <a:off x="6277228" y="1390063"/>
            <a:ext cx="4501751" cy="4628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>
                <a:latin typeface="Gotham Rounded Book" pitchFamily="50" charset="0"/>
              </a:rPr>
              <a:t>1. </a:t>
            </a:r>
            <a:r>
              <a:rPr lang="en-US" dirty="0" err="1" smtClean="0">
                <a:latin typeface="Gotham Rounded Book" pitchFamily="50" charset="0"/>
              </a:rPr>
              <a:t>Mengembangkan</a:t>
            </a:r>
            <a:r>
              <a:rPr lang="en-US" dirty="0" smtClean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sistem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untuk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otomatis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menyesuaikan</a:t>
            </a:r>
            <a:r>
              <a:rPr lang="en-US" dirty="0">
                <a:latin typeface="Gotham Rounded Book" pitchFamily="50" charset="0"/>
              </a:rPr>
              <a:t> parameter </a:t>
            </a:r>
            <a:r>
              <a:rPr lang="en-US" dirty="0" err="1">
                <a:latin typeface="Gotham Rounded Book" pitchFamily="50" charset="0"/>
              </a:rPr>
              <a:t>mesin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berdasarkan</a:t>
            </a:r>
            <a:r>
              <a:rPr lang="en-US" dirty="0">
                <a:latin typeface="Gotham Rounded Book" pitchFamily="50" charset="0"/>
              </a:rPr>
              <a:t> emisi gas </a:t>
            </a:r>
            <a:r>
              <a:rPr lang="en-US" dirty="0" err="1">
                <a:latin typeface="Gotham Rounded Book" pitchFamily="50" charset="0"/>
              </a:rPr>
              <a:t>buang</a:t>
            </a:r>
            <a:r>
              <a:rPr lang="en-US" dirty="0">
                <a:latin typeface="Gotham Rounded Book" pitchFamily="50" charset="0"/>
              </a:rPr>
              <a:t>, </a:t>
            </a:r>
            <a:r>
              <a:rPr lang="en-US" dirty="0" err="1">
                <a:latin typeface="Gotham Rounded Book" pitchFamily="50" charset="0"/>
              </a:rPr>
              <a:t>sistem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ini</a:t>
            </a:r>
            <a:r>
              <a:rPr lang="en-US" dirty="0">
                <a:latin typeface="Gotham Rounded Book" pitchFamily="50" charset="0"/>
              </a:rPr>
              <a:t> memungkinkan </a:t>
            </a:r>
            <a:r>
              <a:rPr lang="en-US" dirty="0" err="1">
                <a:latin typeface="Gotham Rounded Book" pitchFamily="50" charset="0"/>
              </a:rPr>
              <a:t>untuk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melakukan</a:t>
            </a:r>
            <a:r>
              <a:rPr lang="en-US" dirty="0">
                <a:latin typeface="Gotham Rounded Book" pitchFamily="50" charset="0"/>
              </a:rPr>
              <a:t> parameter </a:t>
            </a:r>
            <a:r>
              <a:rPr lang="en-US" dirty="0" err="1">
                <a:latin typeface="Gotham Rounded Book" pitchFamily="50" charset="0"/>
              </a:rPr>
              <a:t>mesin</a:t>
            </a:r>
            <a:r>
              <a:rPr lang="en-US" dirty="0">
                <a:latin typeface="Gotham Rounded Book" pitchFamily="50" charset="0"/>
              </a:rPr>
              <a:t> secara </a:t>
            </a:r>
            <a:r>
              <a:rPr lang="en-US" dirty="0" err="1">
                <a:latin typeface="Gotham Rounded Book" pitchFamily="50" charset="0"/>
              </a:rPr>
              <a:t>otomatis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berdasarkan</a:t>
            </a:r>
            <a:r>
              <a:rPr lang="en-US" dirty="0">
                <a:latin typeface="Gotham Rounded Book" pitchFamily="50" charset="0"/>
              </a:rPr>
              <a:t> data emisi gas </a:t>
            </a:r>
            <a:r>
              <a:rPr lang="en-US" dirty="0" err="1">
                <a:latin typeface="Gotham Rounded Book" pitchFamily="50" charset="0"/>
              </a:rPr>
              <a:t>buang</a:t>
            </a:r>
            <a:r>
              <a:rPr lang="en-US" dirty="0">
                <a:latin typeface="Gotham Rounded Book" pitchFamily="50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Gotham Rounded Book" pitchFamily="50" charset="0"/>
              </a:rPr>
              <a:t>2. </a:t>
            </a:r>
            <a:r>
              <a:rPr lang="en-US" dirty="0" err="1" smtClean="0">
                <a:latin typeface="Gotham Rounded Book" pitchFamily="50" charset="0"/>
              </a:rPr>
              <a:t>Sistem</a:t>
            </a:r>
            <a:r>
              <a:rPr lang="en-US" dirty="0" smtClean="0">
                <a:latin typeface="Gotham Rounded Book" pitchFamily="50" charset="0"/>
              </a:rPr>
              <a:t> </a:t>
            </a:r>
            <a:r>
              <a:rPr lang="en-US" dirty="0">
                <a:latin typeface="Gotham Rounded Book" pitchFamily="50" charset="0"/>
              </a:rPr>
              <a:t>monitoring gas </a:t>
            </a:r>
            <a:r>
              <a:rPr lang="en-US" dirty="0" err="1">
                <a:latin typeface="Gotham Rounded Book" pitchFamily="50" charset="0"/>
              </a:rPr>
              <a:t>buang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dapat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diterapkan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untuk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berbagai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jenis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kendaraan</a:t>
            </a:r>
            <a:r>
              <a:rPr lang="en-US" dirty="0">
                <a:latin typeface="Gotham Rounded Book" pitchFamily="50" charset="0"/>
              </a:rPr>
              <a:t>, </a:t>
            </a:r>
            <a:r>
              <a:rPr lang="en-US" dirty="0" err="1">
                <a:latin typeface="Gotham Rounded Book" pitchFamily="50" charset="0"/>
              </a:rPr>
              <a:t>dan</a:t>
            </a:r>
            <a:r>
              <a:rPr lang="en-US" dirty="0">
                <a:latin typeface="Gotham Rounded Book" pitchFamily="50" charset="0"/>
              </a:rPr>
              <a:t> juga </a:t>
            </a:r>
            <a:r>
              <a:rPr lang="en-US" dirty="0" err="1">
                <a:latin typeface="Gotham Rounded Book" pitchFamily="50" charset="0"/>
              </a:rPr>
              <a:t>dapat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dikembangkan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untuk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memantau</a:t>
            </a:r>
            <a:r>
              <a:rPr lang="en-US" dirty="0">
                <a:latin typeface="Gotham Rounded Book" pitchFamily="50" charset="0"/>
              </a:rPr>
              <a:t> emisi </a:t>
            </a:r>
            <a:r>
              <a:rPr lang="en-US" dirty="0" err="1">
                <a:latin typeface="Gotham Rounded Book" pitchFamily="50" charset="0"/>
              </a:rPr>
              <a:t>dari</a:t>
            </a:r>
            <a:r>
              <a:rPr lang="en-US" dirty="0">
                <a:latin typeface="Gotham Rounded Book" pitchFamily="50" charset="0"/>
              </a:rPr>
              <a:t> sumber lain, seperti </a:t>
            </a:r>
            <a:r>
              <a:rPr lang="en-US" dirty="0" err="1">
                <a:latin typeface="Gotham Rounded Book" pitchFamily="50" charset="0"/>
              </a:rPr>
              <a:t>pabrik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industri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atau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pembangkit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listrik</a:t>
            </a:r>
            <a:r>
              <a:rPr lang="en-US" dirty="0">
                <a:latin typeface="Gotham Rounded Book" pitchFamily="50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 smtClean="0">
                <a:latin typeface="Gotham Rounded Book" pitchFamily="50" charset="0"/>
              </a:rPr>
              <a:t>3. Penggunaan </a:t>
            </a:r>
            <a:r>
              <a:rPr lang="en-US" dirty="0">
                <a:latin typeface="Gotham Rounded Book" pitchFamily="50" charset="0"/>
              </a:rPr>
              <a:t>sensor-sensor </a:t>
            </a:r>
            <a:r>
              <a:rPr lang="en-US" dirty="0" err="1">
                <a:latin typeface="Gotham Rounded Book" pitchFamily="50" charset="0"/>
              </a:rPr>
              <a:t>berkualitas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tinggi</a:t>
            </a:r>
            <a:r>
              <a:rPr lang="en-US" dirty="0">
                <a:latin typeface="Gotham Rounded Book" pitchFamily="50" charset="0"/>
              </a:rPr>
              <a:t> dengan </a:t>
            </a:r>
            <a:r>
              <a:rPr lang="en-US" dirty="0" err="1">
                <a:latin typeface="Gotham Rounded Book" pitchFamily="50" charset="0"/>
              </a:rPr>
              <a:t>pemacaan</a:t>
            </a:r>
            <a:r>
              <a:rPr lang="en-US" dirty="0">
                <a:latin typeface="Gotham Rounded Book" pitchFamily="50" charset="0"/>
              </a:rPr>
              <a:t> yang lebih </a:t>
            </a:r>
            <a:r>
              <a:rPr lang="en-US" dirty="0" err="1">
                <a:latin typeface="Gotham Rounded Book" pitchFamily="50" charset="0"/>
              </a:rPr>
              <a:t>akurat</a:t>
            </a:r>
            <a:r>
              <a:rPr lang="en-US" dirty="0">
                <a:latin typeface="Gotham Rounded Book" pitchFamily="50" charset="0"/>
              </a:rPr>
              <a:t>, </a:t>
            </a:r>
            <a:r>
              <a:rPr lang="en-US" dirty="0" err="1">
                <a:latin typeface="Gotham Rounded Book" pitchFamily="50" charset="0"/>
              </a:rPr>
              <a:t>dan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lakukan</a:t>
            </a:r>
            <a:r>
              <a:rPr lang="en-US" dirty="0">
                <a:latin typeface="Gotham Rounded Book" pitchFamily="50" charset="0"/>
              </a:rPr>
              <a:t> </a:t>
            </a:r>
            <a:r>
              <a:rPr lang="en-US" dirty="0" err="1">
                <a:latin typeface="Gotham Rounded Book" pitchFamily="50" charset="0"/>
              </a:rPr>
              <a:t>kalibrasi</a:t>
            </a:r>
            <a:r>
              <a:rPr lang="en-US" dirty="0">
                <a:latin typeface="Gotham Rounded Book" pitchFamily="50" charset="0"/>
              </a:rPr>
              <a:t> dengan pihak yang </a:t>
            </a:r>
            <a:r>
              <a:rPr lang="en-US" dirty="0" err="1">
                <a:latin typeface="Gotham Rounded Book" pitchFamily="50" charset="0"/>
              </a:rPr>
              <a:t>terkait</a:t>
            </a:r>
            <a:r>
              <a:rPr lang="en-US" dirty="0">
                <a:latin typeface="Gotham Rounded Book" pitchFamily="50" charset="0"/>
              </a:rPr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="" xmlns:a16="http://schemas.microsoft.com/office/drawing/2014/main" id="{C8232B09-D825-A9D4-07DB-6DD1955AB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838" y="2087044"/>
            <a:ext cx="3424085" cy="34240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82078608-EBD0-0C5E-9F97-BD7EC7922A04}"/>
              </a:ext>
            </a:extLst>
          </p:cNvPr>
          <p:cNvSpPr txBox="1"/>
          <p:nvPr/>
        </p:nvSpPr>
        <p:spPr>
          <a:xfrm>
            <a:off x="1236932" y="5689478"/>
            <a:ext cx="824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Gotham Rounded Book" pitchFamily="50" charset="0"/>
              </a:rPr>
              <a:t>Page</a:t>
            </a:r>
            <a:endParaRPr lang="en-ID" sz="2000" dirty="0">
              <a:latin typeface="Gotham Rounded Book" pitchFamily="50" charset="0"/>
            </a:endParaRPr>
          </a:p>
        </p:txBody>
      </p:sp>
      <p:sp>
        <p:nvSpPr>
          <p:cNvPr id="14" name="TextBox 13">
            <a:hlinkClick r:id="rId3" action="ppaction://hlinksldjump"/>
            <a:extLst>
              <a:ext uri="{FF2B5EF4-FFF2-40B4-BE49-F238E27FC236}">
                <a16:creationId xmlns="" xmlns:a16="http://schemas.microsoft.com/office/drawing/2014/main" id="{BFF2443F-9451-C415-61BC-3691AEFA9CAC}"/>
              </a:ext>
            </a:extLst>
          </p:cNvPr>
          <p:cNvSpPr txBox="1"/>
          <p:nvPr/>
        </p:nvSpPr>
        <p:spPr>
          <a:xfrm>
            <a:off x="2037925" y="5689478"/>
            <a:ext cx="293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2">
                    <a:lumMod val="75000"/>
                  </a:schemeClr>
                </a:solidFill>
                <a:latin typeface="Gotham Rounded Bold" pitchFamily="50" charset="0"/>
              </a:rPr>
              <a:t>1</a:t>
            </a:r>
            <a:endParaRPr lang="en-ID" sz="2000" dirty="0">
              <a:solidFill>
                <a:schemeClr val="bg2">
                  <a:lumMod val="75000"/>
                </a:schemeClr>
              </a:solidFill>
              <a:latin typeface="Gotham Rounded Bold" pitchFamily="50" charset="0"/>
            </a:endParaRPr>
          </a:p>
        </p:txBody>
      </p:sp>
      <p:sp>
        <p:nvSpPr>
          <p:cNvPr id="15" name="TextBox 14">
            <a:hlinkClick r:id="rId4" action="ppaction://hlinksldjump"/>
            <a:extLst>
              <a:ext uri="{FF2B5EF4-FFF2-40B4-BE49-F238E27FC236}">
                <a16:creationId xmlns="" xmlns:a16="http://schemas.microsoft.com/office/drawing/2014/main" id="{10C7D4A0-0409-B2C7-11AF-5BFE40B54F22}"/>
              </a:ext>
            </a:extLst>
          </p:cNvPr>
          <p:cNvSpPr txBox="1"/>
          <p:nvPr/>
        </p:nvSpPr>
        <p:spPr>
          <a:xfrm>
            <a:off x="2339611" y="5691545"/>
            <a:ext cx="3449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25464"/>
                </a:solidFill>
                <a:latin typeface="Gotham Rounded Bold" pitchFamily="50" charset="0"/>
              </a:rPr>
              <a:t>2</a:t>
            </a:r>
            <a:endParaRPr lang="en-ID" sz="2000" dirty="0">
              <a:solidFill>
                <a:srgbClr val="025464"/>
              </a:solidFill>
              <a:latin typeface="Gotham Rounded Bold" pitchFamily="50" charset="0"/>
            </a:endParaRPr>
          </a:p>
        </p:txBody>
      </p:sp>
      <p:pic>
        <p:nvPicPr>
          <p:cNvPr id="17" name="Graphic 16" descr="Line arrow: Straight with solid fill">
            <a:hlinkClick r:id="" action="ppaction://hlinkshowjump?jump=nextslide"/>
            <a:extLst>
              <a:ext uri="{FF2B5EF4-FFF2-40B4-BE49-F238E27FC236}">
                <a16:creationId xmlns="" xmlns:a16="http://schemas.microsoft.com/office/drawing/2014/main" id="{313D99F7-5D3C-98AF-D3C0-664C56C79A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207554" y="5562539"/>
            <a:ext cx="571425" cy="5714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AFE6A7F0-3254-67A2-3E1A-8D18F7DFA0C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290862" y="688544"/>
            <a:ext cx="976234" cy="83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66654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54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="" xmlns:a16="http://schemas.microsoft.com/office/drawing/2014/main" id="{10ED5BF7-8455-5D50-8651-D5DBAFCF997D}"/>
              </a:ext>
            </a:extLst>
          </p:cNvPr>
          <p:cNvSpPr/>
          <p:nvPr/>
        </p:nvSpPr>
        <p:spPr>
          <a:xfrm>
            <a:off x="692150" y="482600"/>
            <a:ext cx="10807700" cy="5867400"/>
          </a:xfrm>
          <a:prstGeom prst="roundRect">
            <a:avLst>
              <a:gd name="adj" fmla="val 1125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u="sng"/>
              <a:t>https://hktech29.github.io/billyprofile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678F4D7-6000-3FF5-DAE7-3EDD4E0D7E98}"/>
              </a:ext>
            </a:extLst>
          </p:cNvPr>
          <p:cNvSpPr txBox="1"/>
          <p:nvPr/>
        </p:nvSpPr>
        <p:spPr>
          <a:xfrm>
            <a:off x="1816991" y="2183212"/>
            <a:ext cx="737858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rgbClr val="E8AA42"/>
                </a:solidFill>
                <a:latin typeface="Gotham Rounded Medium" panose="02000000000000000000" pitchFamily="50" charset="0"/>
              </a:rPr>
              <a:t>TERIMA</a:t>
            </a:r>
            <a:r>
              <a:rPr lang="en-US" sz="8800" dirty="0">
                <a:solidFill>
                  <a:srgbClr val="025464"/>
                </a:solidFill>
                <a:latin typeface="Gotham Rounded Medium" panose="02000000000000000000" pitchFamily="50" charset="0"/>
              </a:rPr>
              <a:t>KASIH</a:t>
            </a:r>
            <a:endParaRPr lang="en-ID" sz="8800" dirty="0">
              <a:solidFill>
                <a:srgbClr val="025464"/>
              </a:solidFill>
              <a:latin typeface="Gotham Rounded Medium" panose="02000000000000000000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FE6A7F0-3254-67A2-3E1A-8D18F7DFA0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95575" y="2487740"/>
            <a:ext cx="976234" cy="837493"/>
          </a:xfrm>
          <a:prstGeom prst="rect">
            <a:avLst/>
          </a:prstGeom>
        </p:spPr>
      </p:pic>
      <p:sp>
        <p:nvSpPr>
          <p:cNvPr id="5" name="Google Shape;530;p47"/>
          <p:cNvSpPr txBox="1">
            <a:spLocks/>
          </p:cNvSpPr>
          <p:nvPr/>
        </p:nvSpPr>
        <p:spPr>
          <a:xfrm>
            <a:off x="1816991" y="3472621"/>
            <a:ext cx="4448100" cy="5974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b="1" dirty="0" smtClean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DO YOU HAVE ANY QUESTIONS?</a:t>
            </a:r>
            <a:endParaRPr lang="en-US" sz="2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16991" y="3939235"/>
            <a:ext cx="47171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https://hktech29.github.io/billyprofile</a:t>
            </a:r>
          </a:p>
        </p:txBody>
      </p:sp>
    </p:spTree>
    <p:extLst>
      <p:ext uri="{BB962C8B-B14F-4D97-AF65-F5344CB8AC3E}">
        <p14:creationId xmlns:p14="http://schemas.microsoft.com/office/powerpoint/2010/main" val="216959456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1343</Words>
  <Application>Microsoft Office PowerPoint</Application>
  <PresentationFormat>Widescreen</PresentationFormat>
  <Paragraphs>314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Calibri</vt:lpstr>
      <vt:lpstr>Calibri Light</vt:lpstr>
      <vt:lpstr>Gotham Rounded Bold</vt:lpstr>
      <vt:lpstr>Gotham Rounded Book</vt:lpstr>
      <vt:lpstr>Gotham Rounded Medium</vt:lpstr>
      <vt:lpstr>Montserrat</vt:lpstr>
      <vt:lpstr>Montserrat Medium</vt:lpstr>
      <vt:lpstr>Poppins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Billy Shultan Al Hadiy</dc:creator>
  <cp:lastModifiedBy>Microsoft account</cp:lastModifiedBy>
  <cp:revision>48</cp:revision>
  <dcterms:created xsi:type="dcterms:W3CDTF">2023-09-02T02:24:27Z</dcterms:created>
  <dcterms:modified xsi:type="dcterms:W3CDTF">2024-07-29T14:14:51Z</dcterms:modified>
</cp:coreProperties>
</file>